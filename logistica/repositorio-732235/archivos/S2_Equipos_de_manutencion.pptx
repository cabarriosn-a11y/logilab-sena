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Hoy la sesión tiene dos partes: 25 minutos de teoría (diapositivas 2 a 12) y 40 minutos de laboratorio por estaciones. Pida que tengan a mano la ficha E0 de su producto: la necesitan para calcular el peso de su unidad de carga.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Anote las respuestas en el tablero sin corregir todavía. La respuesta completa aparece en la diapositiva 12 (ejemplo resuelto): la transpaleta sí mueve 1.225 kg en horizontal; un apilador manual típico de 1.000 kg no puede con ese pallet; para el rack a 4 m se necesita un montacargas, que se estudia en la S3. La grúa pórtico no es para trasladar pallets 40 m por una bodega.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Conecte con el producto integrador: la matriz de selección de equipos que hacen hoy en el laboratorio es la base de la Entrega E1 (Selección y verificación de equipos), que se entrega en la S4. GD-G-13, ítem 2.1.1.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Pregunte: ¿qué movimiento hace el equipo que vieron en el reto? Recalque que la grúa pórtico del laboratorio se usa hoy solo con el docente presente. Norma de referencia para equipos de propulsión manual: ISO 3691-5 (carretillas de manutención de propulsión peatonal).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Muestre el equipo real si la clase es en el laboratorio. Errores comunes: entrar con las horquillas a medias (el pallet se apoya en el travesaño y se rompe), girar bruscamente con carga, dejar la transpaleta con las horquillas arriba en un pasillo. La palanca en neutro permite bombear el timón sin subir la carga.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Diferencia clave con la transpaleta: el apilador eleva para ubicar en altura, pero su capacidad es menor y baja con la altura y con el centro de carga. Nunca se eleva con el equipo en movimiento ni se camina con la carga arriba. Nadie se para debajo de las horquillas.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esta tabla para cerrar parcialmente el reto: la transpaleta mueve el pallet de 1.225 kg en horizontal; el apilador manual no. El montacargas se estudia en la S3 con el cálculo de capacidad real según el centro de carga.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placa del ejemplo es ilustrativa. En el laboratorio cada equipo copia la placa real de la transpaleta y del apilador. El cálculo de capacidad real cuando el centro de carga cambia se hace en la S3 (montacargas). Aquí basta la idea: más lejos el centro de carga, menos capacidad.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Estación 4 del laboratorio comparan un pallet de madera y uno plástico: miden, buscan la marca NIMF-15 (logo IPPC, código de país, código del productor y tratamiento HT o MB) y anotan por cuántos lados pudo entrar la transpaleta en la Estación 1. El pallet plástico no requiere NIMF-15.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lista es la misma de la hoja de laboratorio en LogiLab. La inspección preoperacional hace parte del SG-SST (Decreto 1072 de 2015): el operador verifica el equipo antes de cada turno.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 las reglas en voz alta y pida a los Vigías SST que levanten la mano: ellos tienen autoridad para detener una maniobra. La grúa pórtico solo opera con el docente presente; si la eslinga no tiene etiqueta de capacidad visible, no se hace izaje.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verificado: 40 × 30 = 1.200 kg + 25 kg = 1.225 kg. Vuelva al tablero del reto y cierre: la grúa pórtico tampoco es la respuesta para trasladar 40 m por la bodega. Aclare que la caja de baldosas de 30 kg es un supuesto del ejemplo; cada equipo usa los datos de su ficha E0.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equipo calcula: unidades por pallet, peso de un pallet completo, alto, número de pallets (redondeando hacia arriba), unidades del último pallet, peso total del pedido, viajes y tiempo de recepción con 2 transpaletas, eslinga mínima y volumen de un pallet. Las respuestas esperadas están en el solucionario del ejercicio; el panel del docente las revisa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Montaje: Estación 1 con 2 transpaletas y 2 pallets; Estación 2 con 2 apiladores y 4 pallets; Estación 3 con la grúa y 1 pallet; Estación 4 con 1 pallet de madera y 1 plástico (queda 1 pallet de repuesto). Con 7 equipos por grupo: 2 equipos por estación, rotación cada 10 minutos con alarma. Usted permanece en la Estación 3 mientras haya izaje.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ticket se envía desde la pestaña Ticket de salida de la misma página. La hoja de laboratorio la envía el Calculista de cada equipo. Califique luego en la pestaña Docente con la misma clave de la selección de carga.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O">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rtlCol="0" anchor="ctr"/>
          <a:lstStyle/>
          <a:p>
            <a:pPr indent="0" marL="0">
              <a:buNone/>
            </a:pPr>
            <a:r>
              <a:rPr lang="en-US" sz="1100" dirty="0">
                <a:solidFill>
                  <a:srgbClr val="8DA9C4"/>
                </a:solidFill>
                <a:latin typeface="Calibri" pitchFamily="34" charset="0"/>
                <a:ea typeface="Calibri" pitchFamily="34" charset="-122"/>
                <a:cs typeface="Calibri" pitchFamily="34" charset="-120"/>
              </a:rPr>
              <a:t>By Carlos Barrios · Docente</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ARO">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A6878"/>
                </a:solidFill>
                <a:latin typeface="Calibri" pitchFamily="34" charset="0"/>
                <a:ea typeface="Calibri" pitchFamily="34" charset="-122"/>
                <a:cs typeface="Calibri" pitchFamily="34" charset="-120"/>
              </a:rPr>
              <a:t>Unitarización y Embalaje de la Carga · 732235 · Corte 2 · S2</a:t>
            </a:r>
            <a:endParaRPr lang="en-US" sz="1000" dirty="0"/>
          </a:p>
        </p:txBody>
      </p:sp>
      <p:sp>
        <p:nvSpPr>
          <p:cNvPr id="3" name="Text 1"/>
          <p:cNvSpPr/>
          <p:nvPr/>
        </p:nvSpPr>
        <p:spPr>
          <a:xfrm>
            <a:off x="8412480" y="6400800"/>
            <a:ext cx="2743200" cy="274320"/>
          </a:xfrm>
          <a:prstGeom prst="rect">
            <a:avLst/>
          </a:prstGeom>
          <a:noFill/>
          <a:ln/>
        </p:spPr>
        <p:txBody>
          <a:bodyPr wrap="square"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By Carlos Barrios · Docente</a:t>
            </a:r>
            <a:endParaRPr lang="en-US" sz="1000" dirty="0"/>
          </a:p>
        </p:txBody>
      </p:sp>
      <p:sp>
        <p:nvSpPr>
          <p:cNvPr id="4" name="Text 2"/>
          <p:cNvSpPr/>
          <p:nvPr>
            <p:ph idx="102" type="title" hasCustomPrompt="1"/>
          </p:nvPr>
        </p:nvSpPr>
        <p:spPr>
          <a:xfrm>
            <a:off x="548640" y="365760"/>
            <a:ext cx="11064240" cy="822960"/>
          </a:xfrm>
          <a:prstGeom prst="rect">
            <a:avLst/>
          </a:prstGeom>
          <a:noFill/>
          <a:ln/>
        </p:spPr>
        <p:txBody>
          <a:bodyPr wrap="square" rtlCol="0"/>
          <a:lstStyle>
            <a:lvl1pPr indent="0" marL="0">
              <a:buNone/>
              <a:defRPr lang="en-US" sz="3400" b="1" dirty="0">
                <a:solidFill>
                  <a:srgbClr val="0B2545"/>
                </a:solidFill>
                <a:latin typeface="Calibri" pitchFamily="34" charset="0"/>
                <a:ea typeface="Calibri" pitchFamily="34" charset="-122"/>
                <a:cs typeface="Calibri"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10972800" cy="365760"/>
          </a:xfrm>
          <a:prstGeom prst="rect">
            <a:avLst/>
          </a:prstGeom>
          <a:noFill/>
          <a:ln/>
        </p:spPr>
        <p:txBody>
          <a:bodyPr wrap="square" lIns="0" tIns="0" rIns="0" bIns="0" rtlCol="0" anchor="t"/>
          <a:lstStyle/>
          <a:p>
            <a:pPr indent="0" marL="0">
              <a:buNone/>
            </a:pPr>
            <a:r>
              <a:rPr lang="en-US" sz="1400" b="1" spc="200" kern="0" dirty="0">
                <a:solidFill>
                  <a:srgbClr val="D99A0B"/>
                </a:solidFill>
                <a:latin typeface="Calibri" pitchFamily="34" charset="0"/>
                <a:ea typeface="Calibri" pitchFamily="34" charset="-122"/>
                <a:cs typeface="Calibri" pitchFamily="34" charset="-120"/>
              </a:rPr>
              <a:t>UNIVERSIDAD DE LA GUAJIRA · ADMINISTRACIÓN MARÍTIMA Y PORTUARIA</a:t>
            </a:r>
            <a:endParaRPr lang="en-US" sz="1400" dirty="0"/>
          </a:p>
        </p:txBody>
      </p:sp>
      <p:sp>
        <p:nvSpPr>
          <p:cNvPr id="3" name="Text 1"/>
          <p:cNvSpPr txBox="1"/>
          <p:nvPr/>
        </p:nvSpPr>
        <p:spPr>
          <a:xfrm>
            <a:off x="548640" y="1737360"/>
            <a:ext cx="10972800" cy="1097280"/>
          </a:xfrm>
          <a:prstGeom prst="rect">
            <a:avLst/>
          </a:prstGeom>
          <a:noFill/>
          <a:ln/>
        </p:spPr>
        <p:txBody>
          <a:bodyPr wrap="square" lIns="0" tIns="0" rIns="0" bIns="0" rtlCol="0" anchor="t"/>
          <a:lstStyle/>
          <a:p>
            <a:pPr indent="0" marL="0">
              <a:buNone/>
            </a:pPr>
            <a:r>
              <a:rPr lang="en-US" sz="5400" b="1" dirty="0">
                <a:solidFill>
                  <a:srgbClr val="FFFFFF"/>
                </a:solidFill>
                <a:latin typeface="Calibri" pitchFamily="34" charset="0"/>
                <a:ea typeface="Calibri" pitchFamily="34" charset="-122"/>
                <a:cs typeface="Calibri" pitchFamily="34" charset="-120"/>
              </a:rPr>
              <a:t>Equipos de manutención</a:t>
            </a:r>
            <a:endParaRPr lang="en-US" sz="5400" dirty="0"/>
          </a:p>
        </p:txBody>
      </p:sp>
      <p:sp>
        <p:nvSpPr>
          <p:cNvPr id="4" name="Text 2"/>
          <p:cNvSpPr txBox="1"/>
          <p:nvPr/>
        </p:nvSpPr>
        <p:spPr>
          <a:xfrm>
            <a:off x="548640" y="2880360"/>
            <a:ext cx="9601200" cy="914400"/>
          </a:xfrm>
          <a:prstGeom prst="rect">
            <a:avLst/>
          </a:prstGeom>
          <a:noFill/>
          <a:ln/>
        </p:spPr>
        <p:txBody>
          <a:bodyPr wrap="square" lIns="0" tIns="0" rIns="0" bIns="0" rtlCol="0" anchor="t"/>
          <a:lstStyle/>
          <a:p>
            <a:pPr indent="0" marL="0">
              <a:buNone/>
            </a:pPr>
            <a:r>
              <a:rPr lang="en-US" sz="2400" dirty="0">
                <a:solidFill>
                  <a:srgbClr val="8DA9C4"/>
                </a:solidFill>
                <a:latin typeface="Calibri" pitchFamily="34" charset="0"/>
                <a:ea typeface="Calibri" pitchFamily="34" charset="-122"/>
                <a:cs typeface="Calibri" pitchFamily="34" charset="-120"/>
              </a:rPr>
              <a:t>Transpaletas, apiladores y grúa pórtico: elegir el equipo según el peso, la altura y la distancia</a:t>
            </a:r>
            <a:endParaRPr lang="en-US" sz="2400" dirty="0"/>
          </a:p>
        </p:txBody>
      </p:sp>
      <p:sp>
        <p:nvSpPr>
          <p:cNvPr id="5" name="Shape 3"/>
          <p:cNvSpPr/>
          <p:nvPr/>
        </p:nvSpPr>
        <p:spPr>
          <a:xfrm>
            <a:off x="548640" y="4343400"/>
            <a:ext cx="5120640" cy="1280160"/>
          </a:xfrm>
          <a:prstGeom prst="roundRect">
            <a:avLst>
              <a:gd name="adj" fmla="val 5714"/>
            </a:avLst>
          </a:prstGeom>
          <a:solidFill>
            <a:srgbClr val="13315C"/>
          </a:solidFill>
          <a:ln w="19050">
            <a:solidFill>
              <a:srgbClr val="D99A0B"/>
            </a:solidFill>
            <a:prstDash val="solid"/>
          </a:ln>
        </p:spPr>
      </p:sp>
      <p:sp>
        <p:nvSpPr>
          <p:cNvPr id="6" name="Text 4"/>
          <p:cNvSpPr txBox="1"/>
          <p:nvPr/>
        </p:nvSpPr>
        <p:spPr>
          <a:xfrm>
            <a:off x="777240" y="4480560"/>
            <a:ext cx="4754880" cy="1051560"/>
          </a:xfrm>
          <a:prstGeom prst="rect">
            <a:avLst/>
          </a:prstGeom>
          <a:noFill/>
          <a:ln/>
        </p:spPr>
        <p:txBody>
          <a:bodyPr wrap="square" lIns="0" tIns="0" rIns="0" bIns="0" rtlCol="0" anchor="t"/>
          <a:lstStyle/>
          <a:p>
            <a:pPr indent="0" marL="0">
              <a:buNone/>
            </a:pPr>
            <a:r>
              <a:rPr lang="en-US" sz="1800" b="1" dirty="0">
                <a:solidFill>
                  <a:srgbClr val="D99A0B"/>
                </a:solidFill>
                <a:latin typeface="Calibri" pitchFamily="34" charset="0"/>
                <a:ea typeface="Calibri" pitchFamily="34" charset="-122"/>
                <a:cs typeface="Calibri" pitchFamily="34" charset="-120"/>
              </a:rPr>
              <a:t>Sesión S2 · Corte 2
</a:t>
            </a:r>
            <a:pPr indent="0" marL="0">
              <a:buNone/>
            </a:pPr>
            <a:r>
              <a:rPr lang="en-US" sz="1500" dirty="0">
                <a:solidFill>
                  <a:srgbClr val="FFFFFF"/>
                </a:solidFill>
                <a:latin typeface="Calibri" pitchFamily="34" charset="0"/>
                <a:ea typeface="Calibri" pitchFamily="34" charset="-122"/>
                <a:cs typeface="Calibri" pitchFamily="34" charset="-120"/>
              </a:rPr>
              <a:t>Unitarización y Embalaje de la Carga (732235)</a:t>
            </a:r>
            <a:endParaRPr lang="en-US" sz="1600" dirty="0"/>
          </a:p>
          <a:p>
            <a:pPr indent="0" marL="0">
              <a:buNone/>
            </a:pPr>
            <a:r>
              <a:rPr lang="en-US" sz="1500" dirty="0">
                <a:solidFill>
                  <a:srgbClr val="FFFFFF"/>
                </a:solidFill>
                <a:latin typeface="Calibri" pitchFamily="34" charset="0"/>
                <a:ea typeface="Calibri" pitchFamily="34" charset="-122"/>
                <a:cs typeface="Calibri" pitchFamily="34" charset="-120"/>
              </a:rPr>
              <a:t>Teoría breve + práctica en el laboratorio</a:t>
            </a:r>
            <a:endParaRPr lang="en-US" sz="1600" dirty="0"/>
          </a:p>
        </p:txBody>
      </p:sp>
      <p:sp>
        <p:nvSpPr>
          <p:cNvPr id="7" name="Shape 5"/>
          <p:cNvSpPr/>
          <p:nvPr/>
        </p:nvSpPr>
        <p:spPr>
          <a:xfrm>
            <a:off x="7863840" y="4114800"/>
            <a:ext cx="3291840" cy="164592"/>
          </a:xfrm>
          <a:prstGeom prst="rect">
            <a:avLst/>
          </a:prstGeom>
          <a:solidFill>
            <a:srgbClr val="D99A0B"/>
          </a:solidFill>
          <a:ln w="12700">
            <a:solidFill>
              <a:srgbClr val="D99A0B"/>
            </a:solidFill>
            <a:prstDash val="solid"/>
          </a:ln>
        </p:spPr>
      </p:sp>
      <p:sp>
        <p:nvSpPr>
          <p:cNvPr id="8" name="Shape 6"/>
          <p:cNvSpPr/>
          <p:nvPr/>
        </p:nvSpPr>
        <p:spPr>
          <a:xfrm>
            <a:off x="7863840" y="4498848"/>
            <a:ext cx="3291840" cy="164592"/>
          </a:xfrm>
          <a:prstGeom prst="rect">
            <a:avLst/>
          </a:prstGeom>
          <a:solidFill>
            <a:srgbClr val="D99A0B"/>
          </a:solidFill>
          <a:ln w="12700">
            <a:solidFill>
              <a:srgbClr val="D99A0B"/>
            </a:solidFill>
            <a:prstDash val="solid"/>
          </a:ln>
        </p:spPr>
      </p:sp>
      <p:sp>
        <p:nvSpPr>
          <p:cNvPr id="9" name="Shape 7"/>
          <p:cNvSpPr/>
          <p:nvPr/>
        </p:nvSpPr>
        <p:spPr>
          <a:xfrm>
            <a:off x="7863840" y="4882896"/>
            <a:ext cx="3291840" cy="164592"/>
          </a:xfrm>
          <a:prstGeom prst="rect">
            <a:avLst/>
          </a:prstGeom>
          <a:solidFill>
            <a:srgbClr val="D99A0B"/>
          </a:solidFill>
          <a:ln w="12700">
            <a:solidFill>
              <a:srgbClr val="D99A0B"/>
            </a:solidFill>
            <a:prstDash val="solid"/>
          </a:ln>
        </p:spPr>
      </p:sp>
      <p:sp>
        <p:nvSpPr>
          <p:cNvPr id="10" name="Shape 8"/>
          <p:cNvSpPr/>
          <p:nvPr/>
        </p:nvSpPr>
        <p:spPr>
          <a:xfrm>
            <a:off x="8001000" y="4279392"/>
            <a:ext cx="457200" cy="219456"/>
          </a:xfrm>
          <a:prstGeom prst="rect">
            <a:avLst/>
          </a:prstGeom>
          <a:solidFill>
            <a:srgbClr val="8DA9C4"/>
          </a:solidFill>
          <a:ln w="12700">
            <a:solidFill>
              <a:srgbClr val="8DA9C4"/>
            </a:solidFill>
            <a:prstDash val="solid"/>
          </a:ln>
        </p:spPr>
      </p:sp>
      <p:sp>
        <p:nvSpPr>
          <p:cNvPr id="11" name="Shape 9"/>
          <p:cNvSpPr/>
          <p:nvPr/>
        </p:nvSpPr>
        <p:spPr>
          <a:xfrm>
            <a:off x="9372600" y="4279392"/>
            <a:ext cx="457200" cy="219456"/>
          </a:xfrm>
          <a:prstGeom prst="rect">
            <a:avLst/>
          </a:prstGeom>
          <a:solidFill>
            <a:srgbClr val="8DA9C4"/>
          </a:solidFill>
          <a:ln w="12700">
            <a:solidFill>
              <a:srgbClr val="8DA9C4"/>
            </a:solidFill>
            <a:prstDash val="solid"/>
          </a:ln>
        </p:spPr>
      </p:sp>
      <p:sp>
        <p:nvSpPr>
          <p:cNvPr id="12" name="Shape 10"/>
          <p:cNvSpPr/>
          <p:nvPr/>
        </p:nvSpPr>
        <p:spPr>
          <a:xfrm>
            <a:off x="10744200" y="4279392"/>
            <a:ext cx="457200" cy="219456"/>
          </a:xfrm>
          <a:prstGeom prst="rect">
            <a:avLst/>
          </a:prstGeom>
          <a:solidFill>
            <a:srgbClr val="8DA9C4"/>
          </a:solidFill>
          <a:ln w="12700">
            <a:solidFill>
              <a:srgbClr val="8DA9C4"/>
            </a:solidFill>
            <a:prstDash val="solid"/>
          </a:ln>
        </p:spPr>
      </p:sp>
      <p:sp>
        <p:nvSpPr>
          <p:cNvPr id="13" name="Shape 11"/>
          <p:cNvSpPr/>
          <p:nvPr/>
        </p:nvSpPr>
        <p:spPr>
          <a:xfrm>
            <a:off x="8001000" y="4663440"/>
            <a:ext cx="457200" cy="219456"/>
          </a:xfrm>
          <a:prstGeom prst="rect">
            <a:avLst/>
          </a:prstGeom>
          <a:solidFill>
            <a:srgbClr val="8DA9C4"/>
          </a:solidFill>
          <a:ln w="12700">
            <a:solidFill>
              <a:srgbClr val="8DA9C4"/>
            </a:solidFill>
            <a:prstDash val="solid"/>
          </a:ln>
        </p:spPr>
      </p:sp>
      <p:sp>
        <p:nvSpPr>
          <p:cNvPr id="14" name="Shape 12"/>
          <p:cNvSpPr/>
          <p:nvPr/>
        </p:nvSpPr>
        <p:spPr>
          <a:xfrm>
            <a:off x="9372600" y="4663440"/>
            <a:ext cx="457200" cy="219456"/>
          </a:xfrm>
          <a:prstGeom prst="rect">
            <a:avLst/>
          </a:prstGeom>
          <a:solidFill>
            <a:srgbClr val="8DA9C4"/>
          </a:solidFill>
          <a:ln w="12700">
            <a:solidFill>
              <a:srgbClr val="8DA9C4"/>
            </a:solidFill>
            <a:prstDash val="solid"/>
          </a:ln>
        </p:spPr>
      </p:sp>
      <p:sp>
        <p:nvSpPr>
          <p:cNvPr id="15" name="Shape 13"/>
          <p:cNvSpPr/>
          <p:nvPr/>
        </p:nvSpPr>
        <p:spPr>
          <a:xfrm>
            <a:off x="10744200" y="4663440"/>
            <a:ext cx="457200" cy="219456"/>
          </a:xfrm>
          <a:prstGeom prst="rect">
            <a:avLst/>
          </a:prstGeom>
          <a:solidFill>
            <a:srgbClr val="8DA9C4"/>
          </a:solidFill>
          <a:ln w="12700">
            <a:solidFill>
              <a:srgbClr val="8DA9C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548640"/>
            <a:ext cx="7315200" cy="365760"/>
          </a:xfrm>
          <a:prstGeom prst="rect">
            <a:avLst/>
          </a:prstGeom>
          <a:noFill/>
          <a:ln/>
        </p:spPr>
        <p:txBody>
          <a:bodyPr wrap="square" lIns="0" tIns="0" rIns="0" bIns="0" rtlCol="0" anchor="t"/>
          <a:lstStyle/>
          <a:p>
            <a:pPr indent="0" marL="0">
              <a:buNone/>
            </a:pPr>
            <a:r>
              <a:rPr lang="en-US" sz="1400" b="1" spc="200" kern="0" dirty="0">
                <a:solidFill>
                  <a:srgbClr val="D99A0B"/>
                </a:solidFill>
                <a:latin typeface="Calibri" pitchFamily="34" charset="0"/>
                <a:ea typeface="Calibri" pitchFamily="34" charset="-122"/>
                <a:cs typeface="Calibri" pitchFamily="34" charset="-120"/>
              </a:rPr>
              <a:t>RETO DE APERTURA · 5 MIN</a:t>
            </a:r>
            <a:endParaRPr lang="en-US" sz="1400" dirty="0"/>
          </a:p>
        </p:txBody>
      </p:sp>
      <p:sp>
        <p:nvSpPr>
          <p:cNvPr id="3" name="Text 1"/>
          <p:cNvSpPr txBox="1"/>
          <p:nvPr/>
        </p:nvSpPr>
        <p:spPr>
          <a:xfrm>
            <a:off x="548640" y="1051560"/>
            <a:ext cx="10972800" cy="8229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Llega un camión al muelle de una bodega en la Zona Franca de Barranquilla</a:t>
            </a:r>
            <a:endParaRPr lang="en-US" sz="3200" dirty="0"/>
          </a:p>
        </p:txBody>
      </p:sp>
      <p:sp>
        <p:nvSpPr>
          <p:cNvPr id="4" name="Shape 2"/>
          <p:cNvSpPr/>
          <p:nvPr/>
        </p:nvSpPr>
        <p:spPr>
          <a:xfrm>
            <a:off x="548640" y="2148840"/>
            <a:ext cx="2377440" cy="1417320"/>
          </a:xfrm>
          <a:prstGeom prst="roundRect">
            <a:avLst>
              <a:gd name="adj" fmla="val 5161"/>
            </a:avLst>
          </a:prstGeom>
          <a:solidFill>
            <a:srgbClr val="13315C"/>
          </a:solidFill>
          <a:ln w="12700">
            <a:solidFill>
              <a:srgbClr val="8DA9C4"/>
            </a:solidFill>
            <a:prstDash val="solid"/>
          </a:ln>
        </p:spPr>
      </p:sp>
      <p:sp>
        <p:nvSpPr>
          <p:cNvPr id="5" name="Text 3"/>
          <p:cNvSpPr txBox="1"/>
          <p:nvPr/>
        </p:nvSpPr>
        <p:spPr>
          <a:xfrm>
            <a:off x="731520" y="2286000"/>
            <a:ext cx="2011680" cy="685800"/>
          </a:xfrm>
          <a:prstGeom prst="rect">
            <a:avLst/>
          </a:prstGeom>
          <a:noFill/>
          <a:ln/>
        </p:spPr>
        <p:txBody>
          <a:bodyPr wrap="square" lIns="0" tIns="0" rIns="0" bIns="0" rtlCol="0" anchor="t"/>
          <a:lstStyle/>
          <a:p>
            <a:pPr indent="0" marL="0">
              <a:buNone/>
            </a:pPr>
            <a:r>
              <a:rPr lang="en-US" sz="3600" b="1" dirty="0">
                <a:solidFill>
                  <a:srgbClr val="D99A0B"/>
                </a:solidFill>
                <a:latin typeface="Calibri" pitchFamily="34" charset="0"/>
                <a:ea typeface="Calibri" pitchFamily="34" charset="-122"/>
                <a:cs typeface="Calibri" pitchFamily="34" charset="-120"/>
              </a:rPr>
              <a:t>20</a:t>
            </a:r>
            <a:endParaRPr lang="en-US" sz="3600" dirty="0"/>
          </a:p>
        </p:txBody>
      </p:sp>
      <p:sp>
        <p:nvSpPr>
          <p:cNvPr id="6" name="Text 4"/>
          <p:cNvSpPr txBox="1"/>
          <p:nvPr/>
        </p:nvSpPr>
        <p:spPr>
          <a:xfrm>
            <a:off x="731520" y="2971800"/>
            <a:ext cx="2011680" cy="4572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pallets de baldosas</a:t>
            </a:r>
            <a:endParaRPr lang="en-US" sz="1500" dirty="0"/>
          </a:p>
        </p:txBody>
      </p:sp>
      <p:sp>
        <p:nvSpPr>
          <p:cNvPr id="7" name="Shape 5"/>
          <p:cNvSpPr/>
          <p:nvPr/>
        </p:nvSpPr>
        <p:spPr>
          <a:xfrm>
            <a:off x="3200400" y="2148840"/>
            <a:ext cx="2377440" cy="1417320"/>
          </a:xfrm>
          <a:prstGeom prst="roundRect">
            <a:avLst>
              <a:gd name="adj" fmla="val 5161"/>
            </a:avLst>
          </a:prstGeom>
          <a:solidFill>
            <a:srgbClr val="13315C"/>
          </a:solidFill>
          <a:ln w="12700">
            <a:solidFill>
              <a:srgbClr val="8DA9C4"/>
            </a:solidFill>
            <a:prstDash val="solid"/>
          </a:ln>
        </p:spPr>
      </p:sp>
      <p:sp>
        <p:nvSpPr>
          <p:cNvPr id="8" name="Text 6"/>
          <p:cNvSpPr txBox="1"/>
          <p:nvPr/>
        </p:nvSpPr>
        <p:spPr>
          <a:xfrm>
            <a:off x="3383280" y="2286000"/>
            <a:ext cx="2011680" cy="685800"/>
          </a:xfrm>
          <a:prstGeom prst="rect">
            <a:avLst/>
          </a:prstGeom>
          <a:noFill/>
          <a:ln/>
        </p:spPr>
        <p:txBody>
          <a:bodyPr wrap="square" lIns="0" tIns="0" rIns="0" bIns="0" rtlCol="0" anchor="t"/>
          <a:lstStyle/>
          <a:p>
            <a:pPr indent="0" marL="0">
              <a:buNone/>
            </a:pPr>
            <a:r>
              <a:rPr lang="en-US" sz="3600" b="1" dirty="0">
                <a:solidFill>
                  <a:srgbClr val="D99A0B"/>
                </a:solidFill>
                <a:latin typeface="Calibri" pitchFamily="34" charset="0"/>
                <a:ea typeface="Calibri" pitchFamily="34" charset="-122"/>
                <a:cs typeface="Calibri" pitchFamily="34" charset="-120"/>
              </a:rPr>
              <a:t>1.225 kg</a:t>
            </a:r>
            <a:endParaRPr lang="en-US" sz="3600" dirty="0"/>
          </a:p>
        </p:txBody>
      </p:sp>
      <p:sp>
        <p:nvSpPr>
          <p:cNvPr id="9" name="Text 7"/>
          <p:cNvSpPr txBox="1"/>
          <p:nvPr/>
        </p:nvSpPr>
        <p:spPr>
          <a:xfrm>
            <a:off x="3383280" y="2971800"/>
            <a:ext cx="2011680" cy="4572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cada pallet</a:t>
            </a:r>
            <a:endParaRPr lang="en-US" sz="1500" dirty="0"/>
          </a:p>
        </p:txBody>
      </p:sp>
      <p:sp>
        <p:nvSpPr>
          <p:cNvPr id="10" name="Shape 8"/>
          <p:cNvSpPr/>
          <p:nvPr/>
        </p:nvSpPr>
        <p:spPr>
          <a:xfrm>
            <a:off x="5852160" y="2148840"/>
            <a:ext cx="2377440" cy="1417320"/>
          </a:xfrm>
          <a:prstGeom prst="roundRect">
            <a:avLst>
              <a:gd name="adj" fmla="val 5161"/>
            </a:avLst>
          </a:prstGeom>
          <a:solidFill>
            <a:srgbClr val="13315C"/>
          </a:solidFill>
          <a:ln w="12700">
            <a:solidFill>
              <a:srgbClr val="8DA9C4"/>
            </a:solidFill>
            <a:prstDash val="solid"/>
          </a:ln>
        </p:spPr>
      </p:sp>
      <p:sp>
        <p:nvSpPr>
          <p:cNvPr id="11" name="Text 9"/>
          <p:cNvSpPr txBox="1"/>
          <p:nvPr/>
        </p:nvSpPr>
        <p:spPr>
          <a:xfrm>
            <a:off x="6035040" y="2286000"/>
            <a:ext cx="2011680" cy="685800"/>
          </a:xfrm>
          <a:prstGeom prst="rect">
            <a:avLst/>
          </a:prstGeom>
          <a:noFill/>
          <a:ln/>
        </p:spPr>
        <p:txBody>
          <a:bodyPr wrap="square" lIns="0" tIns="0" rIns="0" bIns="0" rtlCol="0" anchor="t"/>
          <a:lstStyle/>
          <a:p>
            <a:pPr indent="0" marL="0">
              <a:buNone/>
            </a:pPr>
            <a:r>
              <a:rPr lang="en-US" sz="3600" b="1" dirty="0">
                <a:solidFill>
                  <a:srgbClr val="D99A0B"/>
                </a:solidFill>
                <a:latin typeface="Calibri" pitchFamily="34" charset="0"/>
                <a:ea typeface="Calibri" pitchFamily="34" charset="-122"/>
                <a:cs typeface="Calibri" pitchFamily="34" charset="-120"/>
              </a:rPr>
              <a:t>4 m</a:t>
            </a:r>
            <a:endParaRPr lang="en-US" sz="3600" dirty="0"/>
          </a:p>
        </p:txBody>
      </p:sp>
      <p:sp>
        <p:nvSpPr>
          <p:cNvPr id="12" name="Text 10"/>
          <p:cNvSpPr txBox="1"/>
          <p:nvPr/>
        </p:nvSpPr>
        <p:spPr>
          <a:xfrm>
            <a:off x="6035040" y="2971800"/>
            <a:ext cx="2011680" cy="4572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altura del rack</a:t>
            </a:r>
            <a:endParaRPr lang="en-US" sz="1500" dirty="0"/>
          </a:p>
        </p:txBody>
      </p:sp>
      <p:sp>
        <p:nvSpPr>
          <p:cNvPr id="13" name="Text 11"/>
          <p:cNvSpPr txBox="1"/>
          <p:nvPr/>
        </p:nvSpPr>
        <p:spPr>
          <a:xfrm>
            <a:off x="8778240" y="2148840"/>
            <a:ext cx="2926080" cy="1463040"/>
          </a:xfrm>
          <a:prstGeom prst="rect">
            <a:avLst/>
          </a:prstGeom>
          <a:noFill/>
          <a:ln/>
        </p:spPr>
        <p:txBody>
          <a:bodyPr wrap="square" lIns="0" tIns="0" rIns="0" bIns="0" rtlCol="0" anchor="t"/>
          <a:lstStyle/>
          <a:p>
            <a:pPr indent="0" marL="0">
              <a:buNone/>
            </a:pPr>
            <a:r>
              <a:rPr lang="en-US" sz="1800" b="1" dirty="0">
                <a:solidFill>
                  <a:srgbClr val="D99A0B"/>
                </a:solidFill>
                <a:latin typeface="Calibri" pitchFamily="34" charset="0"/>
                <a:ea typeface="Calibri" pitchFamily="34" charset="-122"/>
                <a:cs typeface="Calibri" pitchFamily="34" charset="-120"/>
              </a:rPr>
              <a:t>En la bodega hay:
</a:t>
            </a:r>
            <a:pPr indent="0" marL="0">
              <a:buNone/>
            </a:pPr>
            <a:r>
              <a:rPr lang="en-US" sz="1800" dirty="0">
                <a:solidFill>
                  <a:srgbClr val="FFFFFF"/>
                </a:solidFill>
                <a:latin typeface="Calibri" pitchFamily="34" charset="0"/>
                <a:ea typeface="Calibri" pitchFamily="34" charset="-122"/>
                <a:cs typeface="Calibri" pitchFamily="34" charset="-120"/>
              </a:rPr>
              <a:t>2 transpaletas manuales</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2 apiladores manuales</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1 grúa pórtico</a:t>
            </a:r>
            <a:endParaRPr lang="en-US" sz="1800" dirty="0"/>
          </a:p>
        </p:txBody>
      </p:sp>
      <p:sp>
        <p:nvSpPr>
          <p:cNvPr id="14" name="Shape 12"/>
          <p:cNvSpPr/>
          <p:nvPr/>
        </p:nvSpPr>
        <p:spPr>
          <a:xfrm>
            <a:off x="548640" y="4023360"/>
            <a:ext cx="11064240" cy="1737360"/>
          </a:xfrm>
          <a:prstGeom prst="roundRect">
            <a:avLst>
              <a:gd name="adj" fmla="val 4211"/>
            </a:avLst>
          </a:prstGeom>
          <a:solidFill>
            <a:srgbClr val="FFFFFF"/>
          </a:solidFill>
          <a:ln w="12700">
            <a:solidFill>
              <a:srgbClr val="FFFFFF"/>
            </a:solidFill>
            <a:prstDash val="solid"/>
          </a:ln>
        </p:spPr>
      </p:sp>
      <p:sp>
        <p:nvSpPr>
          <p:cNvPr id="15" name="Text 13"/>
          <p:cNvSpPr txBox="1"/>
          <p:nvPr/>
        </p:nvSpPr>
        <p:spPr>
          <a:xfrm>
            <a:off x="822960" y="4206240"/>
            <a:ext cx="10515600" cy="1371600"/>
          </a:xfrm>
          <a:prstGeom prst="rect">
            <a:avLst/>
          </a:prstGeom>
          <a:noFill/>
          <a:ln/>
        </p:spPr>
        <p:txBody>
          <a:bodyPr wrap="square" lIns="0" tIns="0" rIns="0" bIns="0" rtlCol="0" anchor="ctr"/>
          <a:lstStyle/>
          <a:p>
            <a:pPr indent="0" marL="0">
              <a:buNone/>
            </a:pPr>
            <a:r>
              <a:rPr lang="en-US" sz="2200" b="1" dirty="0">
                <a:solidFill>
                  <a:srgbClr val="0B2545"/>
                </a:solidFill>
                <a:latin typeface="Calibri" pitchFamily="34" charset="0"/>
                <a:ea typeface="Calibri" pitchFamily="34" charset="-122"/>
                <a:cs typeface="Calibri" pitchFamily="34" charset="-120"/>
              </a:rPr>
              <a:t>En parejas, 3 minutos: </a:t>
            </a:r>
            <a:pPr indent="0" marL="0">
              <a:buNone/>
            </a:pPr>
            <a:r>
              <a:rPr lang="en-US" sz="2200" dirty="0">
                <a:solidFill>
                  <a:srgbClr val="1B2733"/>
                </a:solidFill>
                <a:latin typeface="Calibri" pitchFamily="34" charset="0"/>
                <a:ea typeface="Calibri" pitchFamily="34" charset="-122"/>
                <a:cs typeface="Calibri" pitchFamily="34" charset="-120"/>
              </a:rPr>
              <a:t>¿con qué equipo descargan el camión, con cuál llevan los pallets 40 m hasta los racks y con cuál los suben a 4 m? ¿Alguno de los equipos disponibles no sirve? ¿Por qué?</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Al terminar la sesión podrán</a:t>
            </a:r>
            <a:endParaRPr lang="en-US" sz="3400" dirty="0"/>
          </a:p>
        </p:txBody>
      </p:sp>
      <p:sp>
        <p:nvSpPr>
          <p:cNvPr id="3" name="Shape 1"/>
          <p:cNvSpPr/>
          <p:nvPr/>
        </p:nvSpPr>
        <p:spPr>
          <a:xfrm>
            <a:off x="640080" y="1554480"/>
            <a:ext cx="548640" cy="548640"/>
          </a:xfrm>
          <a:prstGeom prst="ellipse">
            <a:avLst/>
          </a:prstGeom>
          <a:solidFill>
            <a:srgbClr val="0B2545"/>
          </a:solidFill>
          <a:ln w="25400">
            <a:solidFill>
              <a:srgbClr val="D99A0B"/>
            </a:solidFill>
            <a:prstDash val="solid"/>
          </a:ln>
        </p:spPr>
      </p:sp>
      <p:sp>
        <p:nvSpPr>
          <p:cNvPr id="4" name="Text 2"/>
          <p:cNvSpPr txBox="1"/>
          <p:nvPr/>
        </p:nvSpPr>
        <p:spPr>
          <a:xfrm>
            <a:off x="640080" y="1554480"/>
            <a:ext cx="548640" cy="548640"/>
          </a:xfrm>
          <a:prstGeom prst="rect">
            <a:avLst/>
          </a:prstGeom>
          <a:noFill/>
          <a:ln/>
        </p:spPr>
        <p:txBody>
          <a:bodyPr wrap="square" lIns="0" tIns="0" rIns="0" bIns="0" rtlCol="0" anchor="ctr"/>
          <a:lstStyle/>
          <a:p>
            <a:pPr algn="ctr" indent="0" marL="0">
              <a:buNone/>
            </a:pPr>
            <a:r>
              <a:rPr lang="en-US" sz="2000" b="1" dirty="0">
                <a:solidFill>
                  <a:srgbClr val="D99A0B"/>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463040" y="1463040"/>
            <a:ext cx="9966960" cy="822960"/>
          </a:xfrm>
          <a:prstGeom prst="rect">
            <a:avLst/>
          </a:prstGeom>
          <a:noFill/>
          <a:ln/>
        </p:spPr>
        <p:txBody>
          <a:bodyPr wrap="square" lIns="0" tIns="0" rIns="0" bIns="0" rtlCol="0" anchor="ctr"/>
          <a:lstStyle/>
          <a:p>
            <a:pPr indent="0" marL="0">
              <a:buNone/>
            </a:pPr>
            <a:r>
              <a:rPr lang="en-US" sz="2000" b="1" dirty="0">
                <a:solidFill>
                  <a:srgbClr val="0B2545"/>
                </a:solidFill>
                <a:latin typeface="Calibri" pitchFamily="34" charset="0"/>
                <a:ea typeface="Calibri" pitchFamily="34" charset="-122"/>
                <a:cs typeface="Calibri" pitchFamily="34" charset="-120"/>
              </a:rPr>
              <a:t>Distinguir </a:t>
            </a:r>
            <a:pPr indent="0" marL="0">
              <a:buNone/>
            </a:pPr>
            <a:r>
              <a:rPr lang="en-US" sz="2000" dirty="0">
                <a:solidFill>
                  <a:srgbClr val="1B2733"/>
                </a:solidFill>
                <a:latin typeface="Calibri" pitchFamily="34" charset="0"/>
                <a:ea typeface="Calibri" pitchFamily="34" charset="-122"/>
                <a:cs typeface="Calibri" pitchFamily="34" charset="-120"/>
              </a:rPr>
              <a:t>los equipos de manutención por el movimiento que hacen: horizontal, vertical o de izaje.</a:t>
            </a:r>
            <a:endParaRPr lang="en-US" sz="2000" dirty="0"/>
          </a:p>
        </p:txBody>
      </p:sp>
      <p:sp>
        <p:nvSpPr>
          <p:cNvPr id="6" name="Shape 4"/>
          <p:cNvSpPr/>
          <p:nvPr/>
        </p:nvSpPr>
        <p:spPr>
          <a:xfrm>
            <a:off x="640080" y="2724912"/>
            <a:ext cx="548640" cy="548640"/>
          </a:xfrm>
          <a:prstGeom prst="ellipse">
            <a:avLst/>
          </a:prstGeom>
          <a:solidFill>
            <a:srgbClr val="0B2545"/>
          </a:solidFill>
          <a:ln w="25400">
            <a:solidFill>
              <a:srgbClr val="D99A0B"/>
            </a:solidFill>
            <a:prstDash val="solid"/>
          </a:ln>
        </p:spPr>
      </p:sp>
      <p:sp>
        <p:nvSpPr>
          <p:cNvPr id="7" name="Text 5"/>
          <p:cNvSpPr txBox="1"/>
          <p:nvPr/>
        </p:nvSpPr>
        <p:spPr>
          <a:xfrm>
            <a:off x="640080" y="2724912"/>
            <a:ext cx="548640" cy="548640"/>
          </a:xfrm>
          <a:prstGeom prst="rect">
            <a:avLst/>
          </a:prstGeom>
          <a:noFill/>
          <a:ln/>
        </p:spPr>
        <p:txBody>
          <a:bodyPr wrap="square" lIns="0" tIns="0" rIns="0" bIns="0" rtlCol="0" anchor="ctr"/>
          <a:lstStyle/>
          <a:p>
            <a:pPr algn="ctr" indent="0" marL="0">
              <a:buNone/>
            </a:pPr>
            <a:r>
              <a:rPr lang="en-US" sz="2000" b="1" dirty="0">
                <a:solidFill>
                  <a:srgbClr val="D99A0B"/>
                </a:solidFill>
                <a:latin typeface="Calibri" pitchFamily="34" charset="0"/>
                <a:ea typeface="Calibri" pitchFamily="34" charset="-122"/>
                <a:cs typeface="Calibri" pitchFamily="34" charset="-120"/>
              </a:rPr>
              <a:t>2</a:t>
            </a:r>
            <a:endParaRPr lang="en-US" sz="2000" dirty="0"/>
          </a:p>
        </p:txBody>
      </p:sp>
      <p:sp>
        <p:nvSpPr>
          <p:cNvPr id="8" name="Text 6"/>
          <p:cNvSpPr txBox="1"/>
          <p:nvPr/>
        </p:nvSpPr>
        <p:spPr>
          <a:xfrm>
            <a:off x="1463040" y="2633472"/>
            <a:ext cx="9966960" cy="822960"/>
          </a:xfrm>
          <a:prstGeom prst="rect">
            <a:avLst/>
          </a:prstGeom>
          <a:noFill/>
          <a:ln/>
        </p:spPr>
        <p:txBody>
          <a:bodyPr wrap="square" lIns="0" tIns="0" rIns="0" bIns="0" rtlCol="0" anchor="ctr"/>
          <a:lstStyle/>
          <a:p>
            <a:pPr indent="0" marL="0">
              <a:buNone/>
            </a:pPr>
            <a:r>
              <a:rPr lang="en-US" sz="2000" b="1" dirty="0">
                <a:solidFill>
                  <a:srgbClr val="0B2545"/>
                </a:solidFill>
                <a:latin typeface="Calibri" pitchFamily="34" charset="0"/>
                <a:ea typeface="Calibri" pitchFamily="34" charset="-122"/>
                <a:cs typeface="Calibri" pitchFamily="34" charset="-120"/>
              </a:rPr>
              <a:t>Leer </a:t>
            </a:r>
            <a:pPr indent="0" marL="0">
              <a:buNone/>
            </a:pPr>
            <a:r>
              <a:rPr lang="en-US" sz="2000" dirty="0">
                <a:solidFill>
                  <a:srgbClr val="1B2733"/>
                </a:solidFill>
                <a:latin typeface="Calibri" pitchFamily="34" charset="0"/>
                <a:ea typeface="Calibri" pitchFamily="34" charset="-122"/>
                <a:cs typeface="Calibri" pitchFamily="34" charset="-120"/>
              </a:rPr>
              <a:t>la placa de capacidad y verificar si un equipo puede mover su unidad de carga.</a:t>
            </a:r>
            <a:endParaRPr lang="en-US" sz="2000" dirty="0"/>
          </a:p>
        </p:txBody>
      </p:sp>
      <p:sp>
        <p:nvSpPr>
          <p:cNvPr id="9" name="Shape 7"/>
          <p:cNvSpPr/>
          <p:nvPr/>
        </p:nvSpPr>
        <p:spPr>
          <a:xfrm>
            <a:off x="640080" y="3895344"/>
            <a:ext cx="548640" cy="548640"/>
          </a:xfrm>
          <a:prstGeom prst="ellipse">
            <a:avLst/>
          </a:prstGeom>
          <a:solidFill>
            <a:srgbClr val="0B2545"/>
          </a:solidFill>
          <a:ln w="25400">
            <a:solidFill>
              <a:srgbClr val="D99A0B"/>
            </a:solidFill>
            <a:prstDash val="solid"/>
          </a:ln>
        </p:spPr>
      </p:sp>
      <p:sp>
        <p:nvSpPr>
          <p:cNvPr id="10" name="Text 8"/>
          <p:cNvSpPr txBox="1"/>
          <p:nvPr/>
        </p:nvSpPr>
        <p:spPr>
          <a:xfrm>
            <a:off x="640080" y="3895344"/>
            <a:ext cx="548640" cy="548640"/>
          </a:xfrm>
          <a:prstGeom prst="rect">
            <a:avLst/>
          </a:prstGeom>
          <a:noFill/>
          <a:ln/>
        </p:spPr>
        <p:txBody>
          <a:bodyPr wrap="square" lIns="0" tIns="0" rIns="0" bIns="0" rtlCol="0" anchor="ctr"/>
          <a:lstStyle/>
          <a:p>
            <a:pPr algn="ctr" indent="0" marL="0">
              <a:buNone/>
            </a:pPr>
            <a:r>
              <a:rPr lang="en-US" sz="2000" b="1" dirty="0">
                <a:solidFill>
                  <a:srgbClr val="D99A0B"/>
                </a:solidFill>
                <a:latin typeface="Calibri" pitchFamily="34" charset="0"/>
                <a:ea typeface="Calibri" pitchFamily="34" charset="-122"/>
                <a:cs typeface="Calibri" pitchFamily="34" charset="-120"/>
              </a:rPr>
              <a:t>3</a:t>
            </a:r>
            <a:endParaRPr lang="en-US" sz="2000" dirty="0"/>
          </a:p>
        </p:txBody>
      </p:sp>
      <p:sp>
        <p:nvSpPr>
          <p:cNvPr id="11" name="Text 9"/>
          <p:cNvSpPr txBox="1"/>
          <p:nvPr/>
        </p:nvSpPr>
        <p:spPr>
          <a:xfrm>
            <a:off x="1463040" y="3803904"/>
            <a:ext cx="9966960" cy="822960"/>
          </a:xfrm>
          <a:prstGeom prst="rect">
            <a:avLst/>
          </a:prstGeom>
          <a:noFill/>
          <a:ln/>
        </p:spPr>
        <p:txBody>
          <a:bodyPr wrap="square" lIns="0" tIns="0" rIns="0" bIns="0" rtlCol="0" anchor="ctr"/>
          <a:lstStyle/>
          <a:p>
            <a:pPr indent="0" marL="0">
              <a:buNone/>
            </a:pPr>
            <a:r>
              <a:rPr lang="en-US" sz="2000" b="1" dirty="0">
                <a:solidFill>
                  <a:srgbClr val="0B2545"/>
                </a:solidFill>
                <a:latin typeface="Calibri" pitchFamily="34" charset="0"/>
                <a:ea typeface="Calibri" pitchFamily="34" charset="-122"/>
                <a:cs typeface="Calibri" pitchFamily="34" charset="-120"/>
              </a:rPr>
              <a:t>Inspeccionar y operar </a:t>
            </a:r>
            <a:pPr indent="0" marL="0">
              <a:buNone/>
            </a:pPr>
            <a:r>
              <a:rPr lang="en-US" sz="2000" dirty="0">
                <a:solidFill>
                  <a:srgbClr val="1B2733"/>
                </a:solidFill>
                <a:latin typeface="Calibri" pitchFamily="34" charset="0"/>
                <a:ea typeface="Calibri" pitchFamily="34" charset="-122"/>
                <a:cs typeface="Calibri" pitchFamily="34" charset="-120"/>
              </a:rPr>
              <a:t>una transpaleta y un apilador con una lista preoperacional y las reglas de seguridad.</a:t>
            </a:r>
            <a:endParaRPr lang="en-US" sz="2000" dirty="0"/>
          </a:p>
        </p:txBody>
      </p:sp>
      <p:sp>
        <p:nvSpPr>
          <p:cNvPr id="12" name="Shape 10"/>
          <p:cNvSpPr/>
          <p:nvPr/>
        </p:nvSpPr>
        <p:spPr>
          <a:xfrm>
            <a:off x="640080" y="5065776"/>
            <a:ext cx="548640" cy="548640"/>
          </a:xfrm>
          <a:prstGeom prst="ellipse">
            <a:avLst/>
          </a:prstGeom>
          <a:solidFill>
            <a:srgbClr val="0B2545"/>
          </a:solidFill>
          <a:ln w="25400">
            <a:solidFill>
              <a:srgbClr val="D99A0B"/>
            </a:solidFill>
            <a:prstDash val="solid"/>
          </a:ln>
        </p:spPr>
      </p:sp>
      <p:sp>
        <p:nvSpPr>
          <p:cNvPr id="13" name="Text 11"/>
          <p:cNvSpPr txBox="1"/>
          <p:nvPr/>
        </p:nvSpPr>
        <p:spPr>
          <a:xfrm>
            <a:off x="640080" y="5065776"/>
            <a:ext cx="548640" cy="548640"/>
          </a:xfrm>
          <a:prstGeom prst="rect">
            <a:avLst/>
          </a:prstGeom>
          <a:noFill/>
          <a:ln/>
        </p:spPr>
        <p:txBody>
          <a:bodyPr wrap="square" lIns="0" tIns="0" rIns="0" bIns="0" rtlCol="0" anchor="ctr"/>
          <a:lstStyle/>
          <a:p>
            <a:pPr algn="ctr" indent="0" marL="0">
              <a:buNone/>
            </a:pPr>
            <a:r>
              <a:rPr lang="en-US" sz="2000" b="1" dirty="0">
                <a:solidFill>
                  <a:srgbClr val="D99A0B"/>
                </a:solidFill>
                <a:latin typeface="Calibri" pitchFamily="34" charset="0"/>
                <a:ea typeface="Calibri" pitchFamily="34" charset="-122"/>
                <a:cs typeface="Calibri" pitchFamily="34" charset="-120"/>
              </a:rPr>
              <a:t>4</a:t>
            </a:r>
            <a:endParaRPr lang="en-US" sz="2000" dirty="0"/>
          </a:p>
        </p:txBody>
      </p:sp>
      <p:sp>
        <p:nvSpPr>
          <p:cNvPr id="14" name="Text 12"/>
          <p:cNvSpPr txBox="1"/>
          <p:nvPr/>
        </p:nvSpPr>
        <p:spPr>
          <a:xfrm>
            <a:off x="1463040" y="4974336"/>
            <a:ext cx="9966960" cy="822960"/>
          </a:xfrm>
          <a:prstGeom prst="rect">
            <a:avLst/>
          </a:prstGeom>
          <a:noFill/>
          <a:ln/>
        </p:spPr>
        <p:txBody>
          <a:bodyPr wrap="square" lIns="0" tIns="0" rIns="0" bIns="0" rtlCol="0" anchor="ctr"/>
          <a:lstStyle/>
          <a:p>
            <a:pPr indent="0" marL="0">
              <a:buNone/>
            </a:pPr>
            <a:r>
              <a:rPr lang="en-US" sz="2000" b="1" dirty="0">
                <a:solidFill>
                  <a:srgbClr val="0B2545"/>
                </a:solidFill>
                <a:latin typeface="Calibri" pitchFamily="34" charset="0"/>
                <a:ea typeface="Calibri" pitchFamily="34" charset="-122"/>
                <a:cs typeface="Calibri" pitchFamily="34" charset="-120"/>
              </a:rPr>
              <a:t>Seleccionar </a:t>
            </a:r>
            <a:pPr indent="0" marL="0">
              <a:buNone/>
            </a:pPr>
            <a:r>
              <a:rPr lang="en-US" sz="2000" dirty="0">
                <a:solidFill>
                  <a:srgbClr val="1B2733"/>
                </a:solidFill>
                <a:latin typeface="Calibri" pitchFamily="34" charset="0"/>
                <a:ea typeface="Calibri" pitchFamily="34" charset="-122"/>
                <a:cs typeface="Calibri" pitchFamily="34" charset="-120"/>
              </a:rPr>
              <a:t>el equipo para cada movimiento de su producto: insumo de la Entrega E1.</a:t>
            </a:r>
            <a:endParaRPr lang="en-US" sz="20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Manutención: mover la carga dentro de la bodega</a:t>
            </a:r>
            <a:endParaRPr lang="en-US" sz="3400" dirty="0"/>
          </a:p>
        </p:txBody>
      </p:sp>
      <p:sp>
        <p:nvSpPr>
          <p:cNvPr id="3" name="Text 1"/>
          <p:cNvSpPr txBox="1"/>
          <p:nvPr/>
        </p:nvSpPr>
        <p:spPr>
          <a:xfrm>
            <a:off x="548640" y="1234440"/>
            <a:ext cx="10972800" cy="457200"/>
          </a:xfrm>
          <a:prstGeom prst="rect">
            <a:avLst/>
          </a:prstGeom>
          <a:noFill/>
          <a:ln/>
        </p:spPr>
        <p:txBody>
          <a:bodyPr wrap="square" lIns="0" tIns="0" rIns="0" bIns="0" rtlCol="0" anchor="t"/>
          <a:lstStyle/>
          <a:p>
            <a:pPr indent="0" marL="0">
              <a:buNone/>
            </a:pPr>
            <a:r>
              <a:rPr lang="en-US" sz="1700" dirty="0">
                <a:solidFill>
                  <a:srgbClr val="5A6878"/>
                </a:solidFill>
                <a:latin typeface="Calibri" pitchFamily="34" charset="0"/>
                <a:ea typeface="Calibri" pitchFamily="34" charset="-122"/>
                <a:cs typeface="Calibri" pitchFamily="34" charset="-120"/>
              </a:rPr>
              <a:t>Se clasifica por el movimiento que hace el equipo. Cada movimiento tiene un límite de peso, de altura o de distancia.</a:t>
            </a:r>
            <a:endParaRPr lang="en-US" sz="1700" dirty="0"/>
          </a:p>
        </p:txBody>
      </p:sp>
      <p:sp>
        <p:nvSpPr>
          <p:cNvPr id="4" name="Shape 2"/>
          <p:cNvSpPr/>
          <p:nvPr/>
        </p:nvSpPr>
        <p:spPr>
          <a:xfrm>
            <a:off x="548640" y="1874520"/>
            <a:ext cx="3474720" cy="4206240"/>
          </a:xfrm>
          <a:prstGeom prst="roundRect">
            <a:avLst>
              <a:gd name="adj" fmla="val 2105"/>
            </a:avLst>
          </a:prstGeom>
          <a:solidFill>
            <a:srgbClr val="F1F4F8"/>
          </a:solidFill>
          <a:ln w="12700">
            <a:solidFill>
              <a:srgbClr val="D3DBE5"/>
            </a:solidFill>
            <a:prstDash val="solid"/>
          </a:ln>
        </p:spPr>
      </p:sp>
      <p:sp>
        <p:nvSpPr>
          <p:cNvPr id="5" name="Shape 3"/>
          <p:cNvSpPr/>
          <p:nvPr/>
        </p:nvSpPr>
        <p:spPr>
          <a:xfrm>
            <a:off x="822960" y="2103120"/>
            <a:ext cx="731520" cy="731520"/>
          </a:xfrm>
          <a:prstGeom prst="ellipse">
            <a:avLst/>
          </a:prstGeom>
          <a:solidFill>
            <a:srgbClr val="0B2545"/>
          </a:solidFill>
          <a:ln w="25400">
            <a:solidFill>
              <a:srgbClr val="D99A0B"/>
            </a:solidFill>
            <a:prstDash val="solid"/>
          </a:ln>
        </p:spPr>
      </p:sp>
      <p:sp>
        <p:nvSpPr>
          <p:cNvPr id="6" name="Shape 4"/>
          <p:cNvSpPr/>
          <p:nvPr/>
        </p:nvSpPr>
        <p:spPr>
          <a:xfrm>
            <a:off x="987552" y="2267712"/>
            <a:ext cx="402336" cy="402336"/>
          </a:xfrm>
          <a:prstGeom prst="rightArrow">
            <a:avLst/>
          </a:prstGeom>
          <a:solidFill>
            <a:srgbClr val="D99A0B"/>
          </a:solidFill>
          <a:ln w="12700">
            <a:solidFill>
              <a:srgbClr val="D99A0B"/>
            </a:solidFill>
            <a:prstDash val="solid"/>
          </a:ln>
        </p:spPr>
      </p:sp>
      <p:sp>
        <p:nvSpPr>
          <p:cNvPr id="7" name="Text 5"/>
          <p:cNvSpPr txBox="1"/>
          <p:nvPr/>
        </p:nvSpPr>
        <p:spPr>
          <a:xfrm>
            <a:off x="1691640" y="2176272"/>
            <a:ext cx="2194560" cy="54864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Horizontal</a:t>
            </a:r>
            <a:endParaRPr lang="en-US" sz="2400" dirty="0"/>
          </a:p>
        </p:txBody>
      </p:sp>
      <p:sp>
        <p:nvSpPr>
          <p:cNvPr id="8" name="Text 6"/>
          <p:cNvSpPr txBox="1"/>
          <p:nvPr/>
        </p:nvSpPr>
        <p:spPr>
          <a:xfrm>
            <a:off x="822960" y="3017520"/>
            <a:ext cx="2971800" cy="86868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Lleva el pallet a ras del piso. Despega la carga unos centímetros.</a:t>
            </a:r>
            <a:endParaRPr lang="en-US" sz="1500" dirty="0"/>
          </a:p>
        </p:txBody>
      </p:sp>
      <p:sp>
        <p:nvSpPr>
          <p:cNvPr id="9" name="Text 7"/>
          <p:cNvSpPr txBox="1"/>
          <p:nvPr/>
        </p:nvSpPr>
        <p:spPr>
          <a:xfrm>
            <a:off x="822960" y="3931920"/>
            <a:ext cx="2926080" cy="274320"/>
          </a:xfrm>
          <a:prstGeom prst="rect">
            <a:avLst/>
          </a:prstGeom>
          <a:noFill/>
          <a:ln/>
        </p:spPr>
        <p:txBody>
          <a:bodyPr wrap="square" lIns="0" tIns="0" rIns="0" bIns="0" rtlCol="0" anchor="t"/>
          <a:lstStyle/>
          <a:p>
            <a:pPr indent="0" marL="0">
              <a:buNone/>
            </a:pPr>
            <a:r>
              <a:rPr lang="en-US" sz="1300" b="1" dirty="0">
                <a:solidFill>
                  <a:srgbClr val="D99A0B"/>
                </a:solidFill>
                <a:latin typeface="Calibri" pitchFamily="34" charset="0"/>
                <a:ea typeface="Calibri" pitchFamily="34" charset="-122"/>
                <a:cs typeface="Calibri" pitchFamily="34" charset="-120"/>
              </a:rPr>
              <a:t>Equipos</a:t>
            </a:r>
            <a:endParaRPr lang="en-US" sz="1300" dirty="0"/>
          </a:p>
        </p:txBody>
      </p:sp>
      <p:sp>
        <p:nvSpPr>
          <p:cNvPr id="10" name="Text 8"/>
          <p:cNvSpPr txBox="1"/>
          <p:nvPr/>
        </p:nvSpPr>
        <p:spPr>
          <a:xfrm>
            <a:off x="822960" y="4224528"/>
            <a:ext cx="2971800" cy="685800"/>
          </a:xfrm>
          <a:prstGeom prst="rect">
            <a:avLst/>
          </a:prstGeom>
          <a:noFill/>
          <a:ln/>
        </p:spPr>
        <p:txBody>
          <a:bodyPr wrap="square" lIns="0" tIns="0" rIns="0" bIns="0" rtlCol="0" anchor="t"/>
          <a:lstStyle/>
          <a:p>
            <a:pPr marL="342900" indent="-342900">
              <a:spcAft>
                <a:spcPts val="200"/>
              </a:spcAft>
              <a:buSzPct val="100000"/>
              <a:buChar char="•"/>
            </a:pPr>
            <a:r>
              <a:rPr lang="en-US" sz="1500" dirty="0">
                <a:solidFill>
                  <a:srgbClr val="1B2733"/>
                </a:solidFill>
                <a:latin typeface="Calibri" pitchFamily="34" charset="0"/>
                <a:ea typeface="Calibri" pitchFamily="34" charset="-122"/>
                <a:cs typeface="Calibri" pitchFamily="34" charset="-120"/>
              </a:rPr>
              <a:t>Transpaleta manual</a:t>
            </a:r>
            <a:endParaRPr lang="en-US" sz="1500" dirty="0"/>
          </a:p>
          <a:p>
            <a:pPr marL="342900" indent="-342900">
              <a:spcAft>
                <a:spcPts val="200"/>
              </a:spcAft>
              <a:buSzPct val="100000"/>
              <a:buChar char="•"/>
            </a:pPr>
            <a:r>
              <a:rPr lang="en-US" sz="1500" dirty="0">
                <a:solidFill>
                  <a:srgbClr val="1B2733"/>
                </a:solidFill>
                <a:latin typeface="Calibri" pitchFamily="34" charset="0"/>
                <a:ea typeface="Calibri" pitchFamily="34" charset="-122"/>
                <a:cs typeface="Calibri" pitchFamily="34" charset="-120"/>
              </a:rPr>
              <a:t>Transpaleta eléctrica</a:t>
            </a:r>
            <a:endParaRPr lang="en-US" sz="1500" dirty="0"/>
          </a:p>
        </p:txBody>
      </p:sp>
      <p:sp>
        <p:nvSpPr>
          <p:cNvPr id="11" name="Text 9"/>
          <p:cNvSpPr txBox="1"/>
          <p:nvPr/>
        </p:nvSpPr>
        <p:spPr>
          <a:xfrm>
            <a:off x="822960" y="4983480"/>
            <a:ext cx="2926080" cy="274320"/>
          </a:xfrm>
          <a:prstGeom prst="rect">
            <a:avLst/>
          </a:prstGeom>
          <a:noFill/>
          <a:ln/>
        </p:spPr>
        <p:txBody>
          <a:bodyPr wrap="square" lIns="0" tIns="0" rIns="0" bIns="0" rtlCol="0" anchor="t"/>
          <a:lstStyle/>
          <a:p>
            <a:pPr indent="0" marL="0">
              <a:buNone/>
            </a:pPr>
            <a:r>
              <a:rPr lang="en-US" sz="1300" b="1" dirty="0">
                <a:solidFill>
                  <a:srgbClr val="D99A0B"/>
                </a:solidFill>
                <a:latin typeface="Calibri" pitchFamily="34" charset="0"/>
                <a:ea typeface="Calibri" pitchFamily="34" charset="-122"/>
                <a:cs typeface="Calibri" pitchFamily="34" charset="-120"/>
              </a:rPr>
              <a:t>Dónde se usa</a:t>
            </a:r>
            <a:endParaRPr lang="en-US" sz="1300" dirty="0"/>
          </a:p>
        </p:txBody>
      </p:sp>
      <p:sp>
        <p:nvSpPr>
          <p:cNvPr id="12" name="Text 10"/>
          <p:cNvSpPr txBox="1"/>
          <p:nvPr/>
        </p:nvSpPr>
        <p:spPr>
          <a:xfrm>
            <a:off x="822960" y="5276088"/>
            <a:ext cx="2971800" cy="6858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Recepción, traslado, cargue a camión con rampa</a:t>
            </a:r>
            <a:endParaRPr lang="en-US" sz="1400" dirty="0"/>
          </a:p>
        </p:txBody>
      </p:sp>
      <p:sp>
        <p:nvSpPr>
          <p:cNvPr id="13" name="Shape 11"/>
          <p:cNvSpPr/>
          <p:nvPr/>
        </p:nvSpPr>
        <p:spPr>
          <a:xfrm>
            <a:off x="4297680" y="1874520"/>
            <a:ext cx="3474720" cy="4206240"/>
          </a:xfrm>
          <a:prstGeom prst="roundRect">
            <a:avLst>
              <a:gd name="adj" fmla="val 2105"/>
            </a:avLst>
          </a:prstGeom>
          <a:solidFill>
            <a:srgbClr val="F1F4F8"/>
          </a:solidFill>
          <a:ln w="12700">
            <a:solidFill>
              <a:srgbClr val="D3DBE5"/>
            </a:solidFill>
            <a:prstDash val="solid"/>
          </a:ln>
        </p:spPr>
      </p:sp>
      <p:sp>
        <p:nvSpPr>
          <p:cNvPr id="14" name="Shape 12"/>
          <p:cNvSpPr/>
          <p:nvPr/>
        </p:nvSpPr>
        <p:spPr>
          <a:xfrm>
            <a:off x="4572000" y="2103120"/>
            <a:ext cx="731520" cy="731520"/>
          </a:xfrm>
          <a:prstGeom prst="ellipse">
            <a:avLst/>
          </a:prstGeom>
          <a:solidFill>
            <a:srgbClr val="0B2545"/>
          </a:solidFill>
          <a:ln w="25400">
            <a:solidFill>
              <a:srgbClr val="D99A0B"/>
            </a:solidFill>
            <a:prstDash val="solid"/>
          </a:ln>
        </p:spPr>
      </p:sp>
      <p:sp>
        <p:nvSpPr>
          <p:cNvPr id="15" name="Shape 13"/>
          <p:cNvSpPr/>
          <p:nvPr/>
        </p:nvSpPr>
        <p:spPr>
          <a:xfrm>
            <a:off x="4736592" y="2267712"/>
            <a:ext cx="402336" cy="402336"/>
          </a:xfrm>
          <a:prstGeom prst="upArrow">
            <a:avLst/>
          </a:prstGeom>
          <a:solidFill>
            <a:srgbClr val="D99A0B"/>
          </a:solidFill>
          <a:ln w="12700">
            <a:solidFill>
              <a:srgbClr val="D99A0B"/>
            </a:solidFill>
            <a:prstDash val="solid"/>
          </a:ln>
        </p:spPr>
      </p:sp>
      <p:sp>
        <p:nvSpPr>
          <p:cNvPr id="16" name="Text 14"/>
          <p:cNvSpPr txBox="1"/>
          <p:nvPr/>
        </p:nvSpPr>
        <p:spPr>
          <a:xfrm>
            <a:off x="5440680" y="2176272"/>
            <a:ext cx="2194560" cy="54864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Vertical</a:t>
            </a:r>
            <a:endParaRPr lang="en-US" sz="2400" dirty="0"/>
          </a:p>
        </p:txBody>
      </p:sp>
      <p:sp>
        <p:nvSpPr>
          <p:cNvPr id="17" name="Text 15"/>
          <p:cNvSpPr txBox="1"/>
          <p:nvPr/>
        </p:nvSpPr>
        <p:spPr>
          <a:xfrm>
            <a:off x="4572000" y="3017520"/>
            <a:ext cx="2971800" cy="86868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Eleva el pallet para ubicarlo en estantería o rack.</a:t>
            </a:r>
            <a:endParaRPr lang="en-US" sz="1500" dirty="0"/>
          </a:p>
        </p:txBody>
      </p:sp>
      <p:sp>
        <p:nvSpPr>
          <p:cNvPr id="18" name="Text 16"/>
          <p:cNvSpPr txBox="1"/>
          <p:nvPr/>
        </p:nvSpPr>
        <p:spPr>
          <a:xfrm>
            <a:off x="4572000" y="3931920"/>
            <a:ext cx="2926080" cy="274320"/>
          </a:xfrm>
          <a:prstGeom prst="rect">
            <a:avLst/>
          </a:prstGeom>
          <a:noFill/>
          <a:ln/>
        </p:spPr>
        <p:txBody>
          <a:bodyPr wrap="square" lIns="0" tIns="0" rIns="0" bIns="0" rtlCol="0" anchor="t"/>
          <a:lstStyle/>
          <a:p>
            <a:pPr indent="0" marL="0">
              <a:buNone/>
            </a:pPr>
            <a:r>
              <a:rPr lang="en-US" sz="1300" b="1" dirty="0">
                <a:solidFill>
                  <a:srgbClr val="D99A0B"/>
                </a:solidFill>
                <a:latin typeface="Calibri" pitchFamily="34" charset="0"/>
                <a:ea typeface="Calibri" pitchFamily="34" charset="-122"/>
                <a:cs typeface="Calibri" pitchFamily="34" charset="-120"/>
              </a:rPr>
              <a:t>Equipos</a:t>
            </a:r>
            <a:endParaRPr lang="en-US" sz="1300" dirty="0"/>
          </a:p>
        </p:txBody>
      </p:sp>
      <p:sp>
        <p:nvSpPr>
          <p:cNvPr id="19" name="Text 17"/>
          <p:cNvSpPr txBox="1"/>
          <p:nvPr/>
        </p:nvSpPr>
        <p:spPr>
          <a:xfrm>
            <a:off x="4572000" y="4224528"/>
            <a:ext cx="2971800" cy="685800"/>
          </a:xfrm>
          <a:prstGeom prst="rect">
            <a:avLst/>
          </a:prstGeom>
          <a:noFill/>
          <a:ln/>
        </p:spPr>
        <p:txBody>
          <a:bodyPr wrap="square" lIns="0" tIns="0" rIns="0" bIns="0" rtlCol="0" anchor="t"/>
          <a:lstStyle/>
          <a:p>
            <a:pPr marL="342900" indent="-342900">
              <a:spcAft>
                <a:spcPts val="200"/>
              </a:spcAft>
              <a:buSzPct val="100000"/>
              <a:buChar char="•"/>
            </a:pPr>
            <a:r>
              <a:rPr lang="en-US" sz="1500" dirty="0">
                <a:solidFill>
                  <a:srgbClr val="1B2733"/>
                </a:solidFill>
                <a:latin typeface="Calibri" pitchFamily="34" charset="0"/>
                <a:ea typeface="Calibri" pitchFamily="34" charset="-122"/>
                <a:cs typeface="Calibri" pitchFamily="34" charset="-120"/>
              </a:rPr>
              <a:t>Apilador manual o eléctrico</a:t>
            </a:r>
            <a:endParaRPr lang="en-US" sz="1500" dirty="0"/>
          </a:p>
          <a:p>
            <a:pPr marL="342900" indent="-342900">
              <a:spcAft>
                <a:spcPts val="200"/>
              </a:spcAft>
              <a:buSzPct val="100000"/>
              <a:buChar char="•"/>
            </a:pPr>
            <a:r>
              <a:rPr lang="en-US" sz="1500" dirty="0">
                <a:solidFill>
                  <a:srgbClr val="1B2733"/>
                </a:solidFill>
                <a:latin typeface="Calibri" pitchFamily="34" charset="0"/>
                <a:ea typeface="Calibri" pitchFamily="34" charset="-122"/>
                <a:cs typeface="Calibri" pitchFamily="34" charset="-120"/>
              </a:rPr>
              <a:t>Montacargas (S3)</a:t>
            </a:r>
            <a:endParaRPr lang="en-US" sz="1500" dirty="0"/>
          </a:p>
        </p:txBody>
      </p:sp>
      <p:sp>
        <p:nvSpPr>
          <p:cNvPr id="20" name="Text 18"/>
          <p:cNvSpPr txBox="1"/>
          <p:nvPr/>
        </p:nvSpPr>
        <p:spPr>
          <a:xfrm>
            <a:off x="4572000" y="4983480"/>
            <a:ext cx="2926080" cy="274320"/>
          </a:xfrm>
          <a:prstGeom prst="rect">
            <a:avLst/>
          </a:prstGeom>
          <a:noFill/>
          <a:ln/>
        </p:spPr>
        <p:txBody>
          <a:bodyPr wrap="square" lIns="0" tIns="0" rIns="0" bIns="0" rtlCol="0" anchor="t"/>
          <a:lstStyle/>
          <a:p>
            <a:pPr indent="0" marL="0">
              <a:buNone/>
            </a:pPr>
            <a:r>
              <a:rPr lang="en-US" sz="1300" b="1" dirty="0">
                <a:solidFill>
                  <a:srgbClr val="D99A0B"/>
                </a:solidFill>
                <a:latin typeface="Calibri" pitchFamily="34" charset="0"/>
                <a:ea typeface="Calibri" pitchFamily="34" charset="-122"/>
                <a:cs typeface="Calibri" pitchFamily="34" charset="-120"/>
              </a:rPr>
              <a:t>Dónde se usa</a:t>
            </a:r>
            <a:endParaRPr lang="en-US" sz="1300" dirty="0"/>
          </a:p>
        </p:txBody>
      </p:sp>
      <p:sp>
        <p:nvSpPr>
          <p:cNvPr id="21" name="Text 19"/>
          <p:cNvSpPr txBox="1"/>
          <p:nvPr/>
        </p:nvSpPr>
        <p:spPr>
          <a:xfrm>
            <a:off x="4572000" y="5276088"/>
            <a:ext cx="2971800" cy="6858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Almacenamiento en altura, cargue de camiones</a:t>
            </a:r>
            <a:endParaRPr lang="en-US" sz="1400" dirty="0"/>
          </a:p>
        </p:txBody>
      </p:sp>
      <p:sp>
        <p:nvSpPr>
          <p:cNvPr id="22" name="Shape 20"/>
          <p:cNvSpPr/>
          <p:nvPr/>
        </p:nvSpPr>
        <p:spPr>
          <a:xfrm>
            <a:off x="8046720" y="1874520"/>
            <a:ext cx="3474720" cy="4206240"/>
          </a:xfrm>
          <a:prstGeom prst="roundRect">
            <a:avLst>
              <a:gd name="adj" fmla="val 2105"/>
            </a:avLst>
          </a:prstGeom>
          <a:solidFill>
            <a:srgbClr val="F1F4F8"/>
          </a:solidFill>
          <a:ln w="12700">
            <a:solidFill>
              <a:srgbClr val="D3DBE5"/>
            </a:solidFill>
            <a:prstDash val="solid"/>
          </a:ln>
        </p:spPr>
      </p:sp>
      <p:sp>
        <p:nvSpPr>
          <p:cNvPr id="23" name="Shape 21"/>
          <p:cNvSpPr/>
          <p:nvPr/>
        </p:nvSpPr>
        <p:spPr>
          <a:xfrm>
            <a:off x="8321040" y="2103120"/>
            <a:ext cx="731520" cy="731520"/>
          </a:xfrm>
          <a:prstGeom prst="ellipse">
            <a:avLst/>
          </a:prstGeom>
          <a:solidFill>
            <a:srgbClr val="0B2545"/>
          </a:solidFill>
          <a:ln w="25400">
            <a:solidFill>
              <a:srgbClr val="D99A0B"/>
            </a:solidFill>
            <a:prstDash val="solid"/>
          </a:ln>
        </p:spPr>
      </p:sp>
      <p:sp>
        <p:nvSpPr>
          <p:cNvPr id="24" name="Shape 22"/>
          <p:cNvSpPr/>
          <p:nvPr/>
        </p:nvSpPr>
        <p:spPr>
          <a:xfrm>
            <a:off x="8485632" y="2267712"/>
            <a:ext cx="402336" cy="402336"/>
          </a:xfrm>
          <a:prstGeom prst="downArrow">
            <a:avLst/>
          </a:prstGeom>
          <a:solidFill>
            <a:srgbClr val="D99A0B"/>
          </a:solidFill>
          <a:ln w="12700">
            <a:solidFill>
              <a:srgbClr val="D99A0B"/>
            </a:solidFill>
            <a:prstDash val="solid"/>
          </a:ln>
        </p:spPr>
      </p:sp>
      <p:sp>
        <p:nvSpPr>
          <p:cNvPr id="25" name="Text 23"/>
          <p:cNvSpPr txBox="1"/>
          <p:nvPr/>
        </p:nvSpPr>
        <p:spPr>
          <a:xfrm>
            <a:off x="9189720" y="2176272"/>
            <a:ext cx="2194560" cy="54864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Izaje</a:t>
            </a:r>
            <a:endParaRPr lang="en-US" sz="2400" dirty="0"/>
          </a:p>
        </p:txBody>
      </p:sp>
      <p:sp>
        <p:nvSpPr>
          <p:cNvPr id="26" name="Text 24"/>
          <p:cNvSpPr txBox="1"/>
          <p:nvPr/>
        </p:nvSpPr>
        <p:spPr>
          <a:xfrm>
            <a:off x="8321040" y="3017520"/>
            <a:ext cx="2971800" cy="86868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Suspende la carga desde arriba con eslingas o ganchos.</a:t>
            </a:r>
            <a:endParaRPr lang="en-US" sz="1500" dirty="0"/>
          </a:p>
        </p:txBody>
      </p:sp>
      <p:sp>
        <p:nvSpPr>
          <p:cNvPr id="27" name="Text 25"/>
          <p:cNvSpPr txBox="1"/>
          <p:nvPr/>
        </p:nvSpPr>
        <p:spPr>
          <a:xfrm>
            <a:off x="8321040" y="3931920"/>
            <a:ext cx="2926080" cy="274320"/>
          </a:xfrm>
          <a:prstGeom prst="rect">
            <a:avLst/>
          </a:prstGeom>
          <a:noFill/>
          <a:ln/>
        </p:spPr>
        <p:txBody>
          <a:bodyPr wrap="square" lIns="0" tIns="0" rIns="0" bIns="0" rtlCol="0" anchor="t"/>
          <a:lstStyle/>
          <a:p>
            <a:pPr indent="0" marL="0">
              <a:buNone/>
            </a:pPr>
            <a:r>
              <a:rPr lang="en-US" sz="1300" b="1" dirty="0">
                <a:solidFill>
                  <a:srgbClr val="D99A0B"/>
                </a:solidFill>
                <a:latin typeface="Calibri" pitchFamily="34" charset="0"/>
                <a:ea typeface="Calibri" pitchFamily="34" charset="-122"/>
                <a:cs typeface="Calibri" pitchFamily="34" charset="-120"/>
              </a:rPr>
              <a:t>Equipos</a:t>
            </a:r>
            <a:endParaRPr lang="en-US" sz="1300" dirty="0"/>
          </a:p>
        </p:txBody>
      </p:sp>
      <p:sp>
        <p:nvSpPr>
          <p:cNvPr id="28" name="Text 26"/>
          <p:cNvSpPr txBox="1"/>
          <p:nvPr/>
        </p:nvSpPr>
        <p:spPr>
          <a:xfrm>
            <a:off x="8321040" y="4224528"/>
            <a:ext cx="2971800" cy="685800"/>
          </a:xfrm>
          <a:prstGeom prst="rect">
            <a:avLst/>
          </a:prstGeom>
          <a:noFill/>
          <a:ln/>
        </p:spPr>
        <p:txBody>
          <a:bodyPr wrap="square" lIns="0" tIns="0" rIns="0" bIns="0" rtlCol="0" anchor="t"/>
          <a:lstStyle/>
          <a:p>
            <a:pPr marL="342900" indent="-342900">
              <a:spcAft>
                <a:spcPts val="200"/>
              </a:spcAft>
              <a:buSzPct val="100000"/>
              <a:buChar char="•"/>
            </a:pPr>
            <a:r>
              <a:rPr lang="en-US" sz="1500" dirty="0">
                <a:solidFill>
                  <a:srgbClr val="1B2733"/>
                </a:solidFill>
                <a:latin typeface="Calibri" pitchFamily="34" charset="0"/>
                <a:ea typeface="Calibri" pitchFamily="34" charset="-122"/>
                <a:cs typeface="Calibri" pitchFamily="34" charset="-120"/>
              </a:rPr>
              <a:t>Grúa pórtico</a:t>
            </a:r>
            <a:endParaRPr lang="en-US" sz="1500" dirty="0"/>
          </a:p>
          <a:p>
            <a:pPr marL="342900" indent="-342900">
              <a:spcAft>
                <a:spcPts val="200"/>
              </a:spcAft>
              <a:buSzPct val="100000"/>
              <a:buChar char="•"/>
            </a:pPr>
            <a:r>
              <a:rPr lang="en-US" sz="1500" dirty="0">
                <a:solidFill>
                  <a:srgbClr val="1B2733"/>
                </a:solidFill>
                <a:latin typeface="Calibri" pitchFamily="34" charset="0"/>
                <a:ea typeface="Calibri" pitchFamily="34" charset="-122"/>
                <a:cs typeface="Calibri" pitchFamily="34" charset="-120"/>
              </a:rPr>
              <a:t>Polipasto, puente grúa</a:t>
            </a:r>
            <a:endParaRPr lang="en-US" sz="1500" dirty="0"/>
          </a:p>
        </p:txBody>
      </p:sp>
      <p:sp>
        <p:nvSpPr>
          <p:cNvPr id="29" name="Text 27"/>
          <p:cNvSpPr txBox="1"/>
          <p:nvPr/>
        </p:nvSpPr>
        <p:spPr>
          <a:xfrm>
            <a:off x="8321040" y="4983480"/>
            <a:ext cx="2926080" cy="274320"/>
          </a:xfrm>
          <a:prstGeom prst="rect">
            <a:avLst/>
          </a:prstGeom>
          <a:noFill/>
          <a:ln/>
        </p:spPr>
        <p:txBody>
          <a:bodyPr wrap="square" lIns="0" tIns="0" rIns="0" bIns="0" rtlCol="0" anchor="t"/>
          <a:lstStyle/>
          <a:p>
            <a:pPr indent="0" marL="0">
              <a:buNone/>
            </a:pPr>
            <a:r>
              <a:rPr lang="en-US" sz="1300" b="1" dirty="0">
                <a:solidFill>
                  <a:srgbClr val="D99A0B"/>
                </a:solidFill>
                <a:latin typeface="Calibri" pitchFamily="34" charset="0"/>
                <a:ea typeface="Calibri" pitchFamily="34" charset="-122"/>
                <a:cs typeface="Calibri" pitchFamily="34" charset="-120"/>
              </a:rPr>
              <a:t>Dónde se usa</a:t>
            </a:r>
            <a:endParaRPr lang="en-US" sz="1300" dirty="0"/>
          </a:p>
        </p:txBody>
      </p:sp>
      <p:sp>
        <p:nvSpPr>
          <p:cNvPr id="30" name="Text 28"/>
          <p:cNvSpPr txBox="1"/>
          <p:nvPr/>
        </p:nvSpPr>
        <p:spPr>
          <a:xfrm>
            <a:off x="8321040" y="5276088"/>
            <a:ext cx="2971800" cy="68580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Cargas sin pallet, piezas pesadas o irregulares</a:t>
            </a:r>
            <a:endParaRPr lang="en-US" sz="14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Transpaleta manual: el equipo del movimiento horizontal</a:t>
            </a:r>
            <a:endParaRPr lang="en-US" sz="3400" dirty="0"/>
          </a:p>
        </p:txBody>
      </p:sp>
      <p:sp>
        <p:nvSpPr>
          <p:cNvPr id="3" name="Shape 1"/>
          <p:cNvSpPr/>
          <p:nvPr/>
        </p:nvSpPr>
        <p:spPr>
          <a:xfrm>
            <a:off x="548640" y="1463040"/>
            <a:ext cx="6035040" cy="4206240"/>
          </a:xfrm>
          <a:prstGeom prst="roundRect">
            <a:avLst>
              <a:gd name="adj" fmla="val 1739"/>
            </a:avLst>
          </a:prstGeom>
          <a:solidFill>
            <a:srgbClr val="F1F4F8"/>
          </a:solidFill>
          <a:ln w="12700">
            <a:solidFill>
              <a:srgbClr val="D3DBE5"/>
            </a:solidFill>
            <a:prstDash val="solid"/>
          </a:ln>
        </p:spPr>
      </p:sp>
      <p:sp>
        <p:nvSpPr>
          <p:cNvPr id="4" name="Shape 2"/>
          <p:cNvSpPr/>
          <p:nvPr/>
        </p:nvSpPr>
        <p:spPr>
          <a:xfrm>
            <a:off x="2194560" y="4480560"/>
            <a:ext cx="3840480" cy="201168"/>
          </a:xfrm>
          <a:prstGeom prst="rect">
            <a:avLst/>
          </a:prstGeom>
          <a:solidFill>
            <a:srgbClr val="0B2545"/>
          </a:solidFill>
          <a:ln w="12700">
            <a:solidFill>
              <a:srgbClr val="0B2545"/>
            </a:solidFill>
            <a:prstDash val="solid"/>
          </a:ln>
        </p:spPr>
      </p:sp>
      <p:sp>
        <p:nvSpPr>
          <p:cNvPr id="5" name="Shape 3"/>
          <p:cNvSpPr/>
          <p:nvPr/>
        </p:nvSpPr>
        <p:spPr>
          <a:xfrm>
            <a:off x="1645920" y="3749040"/>
            <a:ext cx="640080" cy="932688"/>
          </a:xfrm>
          <a:prstGeom prst="rect">
            <a:avLst/>
          </a:prstGeom>
          <a:solidFill>
            <a:srgbClr val="0B2545"/>
          </a:solidFill>
          <a:ln w="12700">
            <a:solidFill>
              <a:srgbClr val="0B2545"/>
            </a:solidFill>
            <a:prstDash val="solid"/>
          </a:ln>
        </p:spPr>
      </p:sp>
      <p:sp>
        <p:nvSpPr>
          <p:cNvPr id="6" name="Shape 4"/>
          <p:cNvSpPr/>
          <p:nvPr/>
        </p:nvSpPr>
        <p:spPr>
          <a:xfrm>
            <a:off x="1051560" y="2103120"/>
            <a:ext cx="868680" cy="1691640"/>
          </a:xfrm>
          <a:prstGeom prst="line">
            <a:avLst/>
          </a:prstGeom>
          <a:noFill/>
          <a:ln w="63500">
            <a:solidFill>
              <a:srgbClr val="0B2545"/>
            </a:solidFill>
            <a:prstDash val="solid"/>
          </a:ln>
        </p:spPr>
      </p:sp>
      <p:sp>
        <p:nvSpPr>
          <p:cNvPr id="7" name="Shape 5"/>
          <p:cNvSpPr/>
          <p:nvPr/>
        </p:nvSpPr>
        <p:spPr>
          <a:xfrm>
            <a:off x="777240" y="1965960"/>
            <a:ext cx="548640" cy="146304"/>
          </a:xfrm>
          <a:prstGeom prst="rect">
            <a:avLst/>
          </a:prstGeom>
          <a:solidFill>
            <a:srgbClr val="D99A0B"/>
          </a:solidFill>
          <a:ln w="12700">
            <a:solidFill>
              <a:srgbClr val="D99A0B"/>
            </a:solidFill>
            <a:prstDash val="solid"/>
          </a:ln>
        </p:spPr>
      </p:sp>
      <p:sp>
        <p:nvSpPr>
          <p:cNvPr id="8" name="Shape 6"/>
          <p:cNvSpPr/>
          <p:nvPr/>
        </p:nvSpPr>
        <p:spPr>
          <a:xfrm>
            <a:off x="1691640" y="4681728"/>
            <a:ext cx="502920" cy="502920"/>
          </a:xfrm>
          <a:prstGeom prst="ellipse">
            <a:avLst/>
          </a:prstGeom>
          <a:solidFill>
            <a:srgbClr val="5A6878"/>
          </a:solidFill>
          <a:ln w="12700">
            <a:solidFill>
              <a:srgbClr val="1B2733"/>
            </a:solidFill>
            <a:prstDash val="solid"/>
          </a:ln>
        </p:spPr>
      </p:sp>
      <p:sp>
        <p:nvSpPr>
          <p:cNvPr id="9" name="Shape 7"/>
          <p:cNvSpPr/>
          <p:nvPr/>
        </p:nvSpPr>
        <p:spPr>
          <a:xfrm>
            <a:off x="5577840" y="4681728"/>
            <a:ext cx="274320" cy="274320"/>
          </a:xfrm>
          <a:prstGeom prst="ellipse">
            <a:avLst/>
          </a:prstGeom>
          <a:solidFill>
            <a:srgbClr val="5A6878"/>
          </a:solidFill>
          <a:ln w="12700">
            <a:solidFill>
              <a:srgbClr val="1B2733"/>
            </a:solidFill>
            <a:prstDash val="solid"/>
          </a:ln>
        </p:spPr>
      </p:sp>
      <p:sp>
        <p:nvSpPr>
          <p:cNvPr id="10" name="Shape 8"/>
          <p:cNvSpPr/>
          <p:nvPr/>
        </p:nvSpPr>
        <p:spPr>
          <a:xfrm>
            <a:off x="914400" y="5184648"/>
            <a:ext cx="5486400" cy="0"/>
          </a:xfrm>
          <a:prstGeom prst="line">
            <a:avLst/>
          </a:prstGeom>
          <a:noFill/>
          <a:ln w="12700">
            <a:solidFill>
              <a:srgbClr val="5A6878"/>
            </a:solidFill>
            <a:prstDash val="dash"/>
          </a:ln>
        </p:spPr>
      </p:sp>
      <p:sp>
        <p:nvSpPr>
          <p:cNvPr id="11" name="Shape 9"/>
          <p:cNvSpPr/>
          <p:nvPr/>
        </p:nvSpPr>
        <p:spPr>
          <a:xfrm>
            <a:off x="1371600" y="1645920"/>
            <a:ext cx="384048" cy="384048"/>
          </a:xfrm>
          <a:prstGeom prst="ellipse">
            <a:avLst/>
          </a:prstGeom>
          <a:solidFill>
            <a:srgbClr val="D99A0B"/>
          </a:solidFill>
          <a:ln w="25400">
            <a:solidFill>
              <a:srgbClr val="D99A0B"/>
            </a:solidFill>
            <a:prstDash val="solid"/>
          </a:ln>
        </p:spPr>
      </p:sp>
      <p:sp>
        <p:nvSpPr>
          <p:cNvPr id="12" name="Text 10"/>
          <p:cNvSpPr txBox="1"/>
          <p:nvPr/>
        </p:nvSpPr>
        <p:spPr>
          <a:xfrm>
            <a:off x="1371600" y="164592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1</a:t>
            </a:r>
            <a:endParaRPr lang="en-US" sz="1400" dirty="0"/>
          </a:p>
        </p:txBody>
      </p:sp>
      <p:sp>
        <p:nvSpPr>
          <p:cNvPr id="13" name="Shape 11"/>
          <p:cNvSpPr/>
          <p:nvPr/>
        </p:nvSpPr>
        <p:spPr>
          <a:xfrm>
            <a:off x="2423160" y="3246120"/>
            <a:ext cx="384048" cy="384048"/>
          </a:xfrm>
          <a:prstGeom prst="ellipse">
            <a:avLst/>
          </a:prstGeom>
          <a:solidFill>
            <a:srgbClr val="D99A0B"/>
          </a:solidFill>
          <a:ln w="25400">
            <a:solidFill>
              <a:srgbClr val="D99A0B"/>
            </a:solidFill>
            <a:prstDash val="solid"/>
          </a:ln>
        </p:spPr>
      </p:sp>
      <p:sp>
        <p:nvSpPr>
          <p:cNvPr id="14" name="Text 12"/>
          <p:cNvSpPr txBox="1"/>
          <p:nvPr/>
        </p:nvSpPr>
        <p:spPr>
          <a:xfrm>
            <a:off x="2423160" y="324612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2</a:t>
            </a:r>
            <a:endParaRPr lang="en-US" sz="1400" dirty="0"/>
          </a:p>
        </p:txBody>
      </p:sp>
      <p:sp>
        <p:nvSpPr>
          <p:cNvPr id="15" name="Shape 13"/>
          <p:cNvSpPr/>
          <p:nvPr/>
        </p:nvSpPr>
        <p:spPr>
          <a:xfrm>
            <a:off x="4023360" y="3977640"/>
            <a:ext cx="384048" cy="384048"/>
          </a:xfrm>
          <a:prstGeom prst="ellipse">
            <a:avLst/>
          </a:prstGeom>
          <a:solidFill>
            <a:srgbClr val="D99A0B"/>
          </a:solidFill>
          <a:ln w="25400">
            <a:solidFill>
              <a:srgbClr val="D99A0B"/>
            </a:solidFill>
            <a:prstDash val="solid"/>
          </a:ln>
        </p:spPr>
      </p:sp>
      <p:sp>
        <p:nvSpPr>
          <p:cNvPr id="16" name="Text 14"/>
          <p:cNvSpPr txBox="1"/>
          <p:nvPr/>
        </p:nvSpPr>
        <p:spPr>
          <a:xfrm>
            <a:off x="4023360" y="397764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3</a:t>
            </a:r>
            <a:endParaRPr lang="en-US" sz="1400" dirty="0"/>
          </a:p>
        </p:txBody>
      </p:sp>
      <p:sp>
        <p:nvSpPr>
          <p:cNvPr id="17" name="Shape 15"/>
          <p:cNvSpPr/>
          <p:nvPr/>
        </p:nvSpPr>
        <p:spPr>
          <a:xfrm>
            <a:off x="1234440" y="4709160"/>
            <a:ext cx="384048" cy="384048"/>
          </a:xfrm>
          <a:prstGeom prst="ellipse">
            <a:avLst/>
          </a:prstGeom>
          <a:solidFill>
            <a:srgbClr val="D99A0B"/>
          </a:solidFill>
          <a:ln w="25400">
            <a:solidFill>
              <a:srgbClr val="D99A0B"/>
            </a:solidFill>
            <a:prstDash val="solid"/>
          </a:ln>
        </p:spPr>
      </p:sp>
      <p:sp>
        <p:nvSpPr>
          <p:cNvPr id="18" name="Text 16"/>
          <p:cNvSpPr txBox="1"/>
          <p:nvPr/>
        </p:nvSpPr>
        <p:spPr>
          <a:xfrm>
            <a:off x="1234440" y="470916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4</a:t>
            </a:r>
            <a:endParaRPr lang="en-US" sz="1400" dirty="0"/>
          </a:p>
        </p:txBody>
      </p:sp>
      <p:sp>
        <p:nvSpPr>
          <p:cNvPr id="19" name="Shape 17"/>
          <p:cNvSpPr/>
          <p:nvPr/>
        </p:nvSpPr>
        <p:spPr>
          <a:xfrm>
            <a:off x="5897880" y="4617720"/>
            <a:ext cx="384048" cy="384048"/>
          </a:xfrm>
          <a:prstGeom prst="ellipse">
            <a:avLst/>
          </a:prstGeom>
          <a:solidFill>
            <a:srgbClr val="D99A0B"/>
          </a:solidFill>
          <a:ln w="25400">
            <a:solidFill>
              <a:srgbClr val="D99A0B"/>
            </a:solidFill>
            <a:prstDash val="solid"/>
          </a:ln>
        </p:spPr>
      </p:sp>
      <p:sp>
        <p:nvSpPr>
          <p:cNvPr id="20" name="Text 18"/>
          <p:cNvSpPr txBox="1"/>
          <p:nvPr/>
        </p:nvSpPr>
        <p:spPr>
          <a:xfrm>
            <a:off x="5897880" y="461772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731520" y="5303520"/>
            <a:ext cx="3657600" cy="274320"/>
          </a:xfrm>
          <a:prstGeom prst="rect">
            <a:avLst/>
          </a:prstGeom>
          <a:noFill/>
          <a:ln/>
        </p:spPr>
        <p:txBody>
          <a:bodyPr wrap="square" lIns="0" tIns="0" rIns="0" bIns="0" rtlCol="0" anchor="t"/>
          <a:lstStyle/>
          <a:p>
            <a:pPr indent="0" marL="0">
              <a:buNone/>
            </a:pPr>
            <a:r>
              <a:rPr lang="en-US" sz="1200" dirty="0">
                <a:solidFill>
                  <a:srgbClr val="5A6878"/>
                </a:solidFill>
                <a:latin typeface="Calibri" pitchFamily="34" charset="0"/>
                <a:ea typeface="Calibri" pitchFamily="34" charset="-122"/>
                <a:cs typeface="Calibri" pitchFamily="34" charset="-120"/>
              </a:rPr>
              <a:t>Vista lateral (esquema)</a:t>
            </a:r>
            <a:endParaRPr lang="en-US" sz="1200" dirty="0"/>
          </a:p>
        </p:txBody>
      </p:sp>
      <p:sp>
        <p:nvSpPr>
          <p:cNvPr id="22" name="Shape 20"/>
          <p:cNvSpPr/>
          <p:nvPr/>
        </p:nvSpPr>
        <p:spPr>
          <a:xfrm>
            <a:off x="6720840" y="1508760"/>
            <a:ext cx="384048" cy="384048"/>
          </a:xfrm>
          <a:prstGeom prst="ellipse">
            <a:avLst/>
          </a:prstGeom>
          <a:solidFill>
            <a:srgbClr val="D99A0B"/>
          </a:solidFill>
          <a:ln w="25400">
            <a:solidFill>
              <a:srgbClr val="D99A0B"/>
            </a:solidFill>
            <a:prstDash val="solid"/>
          </a:ln>
        </p:spPr>
      </p:sp>
      <p:sp>
        <p:nvSpPr>
          <p:cNvPr id="23" name="Text 21"/>
          <p:cNvSpPr txBox="1"/>
          <p:nvPr/>
        </p:nvSpPr>
        <p:spPr>
          <a:xfrm>
            <a:off x="6720840" y="150876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1</a:t>
            </a:r>
            <a:endParaRPr lang="en-US" sz="1400" dirty="0"/>
          </a:p>
        </p:txBody>
      </p:sp>
      <p:sp>
        <p:nvSpPr>
          <p:cNvPr id="24" name="Text 22"/>
          <p:cNvSpPr txBox="1"/>
          <p:nvPr/>
        </p:nvSpPr>
        <p:spPr>
          <a:xfrm>
            <a:off x="7269480" y="1463040"/>
            <a:ext cx="4389120" cy="68580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Timón y manija
</a:t>
            </a:r>
            <a:pPr indent="0" marL="0">
              <a:buNone/>
            </a:pPr>
            <a:r>
              <a:rPr lang="en-US" sz="1400" dirty="0">
                <a:solidFill>
                  <a:srgbClr val="1B2733"/>
                </a:solidFill>
                <a:latin typeface="Calibri" pitchFamily="34" charset="0"/>
                <a:ea typeface="Calibri" pitchFamily="34" charset="-122"/>
                <a:cs typeface="Calibri" pitchFamily="34" charset="-120"/>
              </a:rPr>
              <a:t>Dirige el equipo; la manija trae la palanca de mando: subir, neutro y bajar.</a:t>
            </a:r>
            <a:endParaRPr lang="en-US" sz="1500" dirty="0"/>
          </a:p>
        </p:txBody>
      </p:sp>
      <p:sp>
        <p:nvSpPr>
          <p:cNvPr id="25" name="Shape 23"/>
          <p:cNvSpPr/>
          <p:nvPr/>
        </p:nvSpPr>
        <p:spPr>
          <a:xfrm>
            <a:off x="6720840" y="2221992"/>
            <a:ext cx="384048" cy="384048"/>
          </a:xfrm>
          <a:prstGeom prst="ellipse">
            <a:avLst/>
          </a:prstGeom>
          <a:solidFill>
            <a:srgbClr val="D99A0B"/>
          </a:solidFill>
          <a:ln w="25400">
            <a:solidFill>
              <a:srgbClr val="D99A0B"/>
            </a:solidFill>
            <a:prstDash val="solid"/>
          </a:ln>
        </p:spPr>
      </p:sp>
      <p:sp>
        <p:nvSpPr>
          <p:cNvPr id="26" name="Text 24"/>
          <p:cNvSpPr txBox="1"/>
          <p:nvPr/>
        </p:nvSpPr>
        <p:spPr>
          <a:xfrm>
            <a:off x="6720840" y="2221992"/>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2</a:t>
            </a:r>
            <a:endParaRPr lang="en-US" sz="1400" dirty="0"/>
          </a:p>
        </p:txBody>
      </p:sp>
      <p:sp>
        <p:nvSpPr>
          <p:cNvPr id="27" name="Text 25"/>
          <p:cNvSpPr txBox="1"/>
          <p:nvPr/>
        </p:nvSpPr>
        <p:spPr>
          <a:xfrm>
            <a:off x="7269480" y="2176272"/>
            <a:ext cx="4389120" cy="68580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Bomba hidráulica
</a:t>
            </a:r>
            <a:pPr indent="0" marL="0">
              <a:buNone/>
            </a:pPr>
            <a:r>
              <a:rPr lang="en-US" sz="1400" dirty="0">
                <a:solidFill>
                  <a:srgbClr val="1B2733"/>
                </a:solidFill>
                <a:latin typeface="Calibri" pitchFamily="34" charset="0"/>
                <a:ea typeface="Calibri" pitchFamily="34" charset="-122"/>
                <a:cs typeface="Calibri" pitchFamily="34" charset="-120"/>
              </a:rPr>
              <a:t>Al bombear con el timón, las horquillas suben.</a:t>
            </a:r>
            <a:endParaRPr lang="en-US" sz="1500" dirty="0"/>
          </a:p>
        </p:txBody>
      </p:sp>
      <p:sp>
        <p:nvSpPr>
          <p:cNvPr id="28" name="Shape 26"/>
          <p:cNvSpPr/>
          <p:nvPr/>
        </p:nvSpPr>
        <p:spPr>
          <a:xfrm>
            <a:off x="6720840" y="2935224"/>
            <a:ext cx="384048" cy="384048"/>
          </a:xfrm>
          <a:prstGeom prst="ellipse">
            <a:avLst/>
          </a:prstGeom>
          <a:solidFill>
            <a:srgbClr val="D99A0B"/>
          </a:solidFill>
          <a:ln w="25400">
            <a:solidFill>
              <a:srgbClr val="D99A0B"/>
            </a:solidFill>
            <a:prstDash val="solid"/>
          </a:ln>
        </p:spPr>
      </p:sp>
      <p:sp>
        <p:nvSpPr>
          <p:cNvPr id="29" name="Text 27"/>
          <p:cNvSpPr txBox="1"/>
          <p:nvPr/>
        </p:nvSpPr>
        <p:spPr>
          <a:xfrm>
            <a:off x="6720840" y="2935224"/>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3</a:t>
            </a:r>
            <a:endParaRPr lang="en-US" sz="1400" dirty="0"/>
          </a:p>
        </p:txBody>
      </p:sp>
      <p:sp>
        <p:nvSpPr>
          <p:cNvPr id="30" name="Text 28"/>
          <p:cNvSpPr txBox="1"/>
          <p:nvPr/>
        </p:nvSpPr>
        <p:spPr>
          <a:xfrm>
            <a:off x="7269480" y="2889504"/>
            <a:ext cx="4389120" cy="68580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Horquillas
</a:t>
            </a:r>
            <a:pPr indent="0" marL="0">
              <a:buNone/>
            </a:pPr>
            <a:r>
              <a:rPr lang="en-US" sz="1400" dirty="0">
                <a:solidFill>
                  <a:srgbClr val="1B2733"/>
                </a:solidFill>
                <a:latin typeface="Calibri" pitchFamily="34" charset="0"/>
                <a:ea typeface="Calibri" pitchFamily="34" charset="-122"/>
                <a:cs typeface="Calibri" pitchFamily="34" charset="-120"/>
              </a:rPr>
              <a:t>Entran por debajo del pallet; suelen medir cerca de 1.150 mm de largo.</a:t>
            </a:r>
            <a:endParaRPr lang="en-US" sz="1500" dirty="0"/>
          </a:p>
        </p:txBody>
      </p:sp>
      <p:sp>
        <p:nvSpPr>
          <p:cNvPr id="31" name="Shape 29"/>
          <p:cNvSpPr/>
          <p:nvPr/>
        </p:nvSpPr>
        <p:spPr>
          <a:xfrm>
            <a:off x="6720840" y="3648456"/>
            <a:ext cx="384048" cy="384048"/>
          </a:xfrm>
          <a:prstGeom prst="ellipse">
            <a:avLst/>
          </a:prstGeom>
          <a:solidFill>
            <a:srgbClr val="D99A0B"/>
          </a:solidFill>
          <a:ln w="25400">
            <a:solidFill>
              <a:srgbClr val="D99A0B"/>
            </a:solidFill>
            <a:prstDash val="solid"/>
          </a:ln>
        </p:spPr>
      </p:sp>
      <p:sp>
        <p:nvSpPr>
          <p:cNvPr id="32" name="Text 30"/>
          <p:cNvSpPr txBox="1"/>
          <p:nvPr/>
        </p:nvSpPr>
        <p:spPr>
          <a:xfrm>
            <a:off x="6720840" y="3648456"/>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4</a:t>
            </a:r>
            <a:endParaRPr lang="en-US" sz="1400" dirty="0"/>
          </a:p>
        </p:txBody>
      </p:sp>
      <p:sp>
        <p:nvSpPr>
          <p:cNvPr id="33" name="Text 31"/>
          <p:cNvSpPr txBox="1"/>
          <p:nvPr/>
        </p:nvSpPr>
        <p:spPr>
          <a:xfrm>
            <a:off x="7269480" y="3602736"/>
            <a:ext cx="4389120" cy="68580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Ruedas de dirección
</a:t>
            </a:r>
            <a:pPr indent="0" marL="0">
              <a:buNone/>
            </a:pPr>
            <a:r>
              <a:rPr lang="en-US" sz="1400" dirty="0">
                <a:solidFill>
                  <a:srgbClr val="1B2733"/>
                </a:solidFill>
                <a:latin typeface="Calibri" pitchFamily="34" charset="0"/>
                <a:ea typeface="Calibri" pitchFamily="34" charset="-122"/>
                <a:cs typeface="Calibri" pitchFamily="34" charset="-120"/>
              </a:rPr>
              <a:t>Giran con el timón.</a:t>
            </a:r>
            <a:endParaRPr lang="en-US" sz="1500" dirty="0"/>
          </a:p>
        </p:txBody>
      </p:sp>
      <p:sp>
        <p:nvSpPr>
          <p:cNvPr id="34" name="Shape 32"/>
          <p:cNvSpPr/>
          <p:nvPr/>
        </p:nvSpPr>
        <p:spPr>
          <a:xfrm>
            <a:off x="6720840" y="4361688"/>
            <a:ext cx="384048" cy="384048"/>
          </a:xfrm>
          <a:prstGeom prst="ellipse">
            <a:avLst/>
          </a:prstGeom>
          <a:solidFill>
            <a:srgbClr val="D99A0B"/>
          </a:solidFill>
          <a:ln w="25400">
            <a:solidFill>
              <a:srgbClr val="D99A0B"/>
            </a:solidFill>
            <a:prstDash val="solid"/>
          </a:ln>
        </p:spPr>
      </p:sp>
      <p:sp>
        <p:nvSpPr>
          <p:cNvPr id="35" name="Text 33"/>
          <p:cNvSpPr txBox="1"/>
          <p:nvPr/>
        </p:nvSpPr>
        <p:spPr>
          <a:xfrm>
            <a:off x="6720840" y="4361688"/>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5</a:t>
            </a:r>
            <a:endParaRPr lang="en-US" sz="1400" dirty="0"/>
          </a:p>
        </p:txBody>
      </p:sp>
      <p:sp>
        <p:nvSpPr>
          <p:cNvPr id="36" name="Text 34"/>
          <p:cNvSpPr txBox="1"/>
          <p:nvPr/>
        </p:nvSpPr>
        <p:spPr>
          <a:xfrm>
            <a:off x="7269480" y="4315968"/>
            <a:ext cx="4389120" cy="68580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Rodillos de carga
</a:t>
            </a:r>
            <a:pPr indent="0" marL="0">
              <a:buNone/>
            </a:pPr>
            <a:r>
              <a:rPr lang="en-US" sz="1400" dirty="0">
                <a:solidFill>
                  <a:srgbClr val="1B2733"/>
                </a:solidFill>
                <a:latin typeface="Calibri" pitchFamily="34" charset="0"/>
                <a:ea typeface="Calibri" pitchFamily="34" charset="-122"/>
                <a:cs typeface="Calibri" pitchFamily="34" charset="-120"/>
              </a:rPr>
              <a:t>Van en la punta de las horquillas y apoyan el pallet.</a:t>
            </a:r>
            <a:endParaRPr lang="en-US" sz="1500" dirty="0"/>
          </a:p>
        </p:txBody>
      </p:sp>
      <p:sp>
        <p:nvSpPr>
          <p:cNvPr id="37" name="Shape 35"/>
          <p:cNvSpPr/>
          <p:nvPr/>
        </p:nvSpPr>
        <p:spPr>
          <a:xfrm>
            <a:off x="6720840" y="5120640"/>
            <a:ext cx="4937760" cy="1051560"/>
          </a:xfrm>
          <a:prstGeom prst="roundRect">
            <a:avLst>
              <a:gd name="adj" fmla="val 6957"/>
            </a:avLst>
          </a:prstGeom>
          <a:solidFill>
            <a:srgbClr val="0B2545"/>
          </a:solidFill>
          <a:ln w="12700">
            <a:solidFill>
              <a:srgbClr val="0B2545"/>
            </a:solidFill>
            <a:prstDash val="solid"/>
          </a:ln>
        </p:spPr>
      </p:sp>
      <p:sp>
        <p:nvSpPr>
          <p:cNvPr id="38" name="Text 36"/>
          <p:cNvSpPr txBox="1"/>
          <p:nvPr/>
        </p:nvSpPr>
        <p:spPr>
          <a:xfrm>
            <a:off x="6949440" y="5230368"/>
            <a:ext cx="4572000" cy="868680"/>
          </a:xfrm>
          <a:prstGeom prst="rect">
            <a:avLst/>
          </a:prstGeom>
          <a:noFill/>
          <a:ln/>
        </p:spPr>
        <p:txBody>
          <a:bodyPr wrap="square" lIns="0" tIns="0" rIns="0" bIns="0" rtlCol="0" anchor="ctr"/>
          <a:lstStyle/>
          <a:p>
            <a:pPr indent="0" marL="0">
              <a:buNone/>
            </a:pPr>
            <a:r>
              <a:rPr lang="en-US" sz="1500" b="1" dirty="0">
                <a:solidFill>
                  <a:srgbClr val="D99A0B"/>
                </a:solidFill>
                <a:latin typeface="Calibri" pitchFamily="34" charset="0"/>
                <a:ea typeface="Calibri" pitchFamily="34" charset="-122"/>
                <a:cs typeface="Calibri" pitchFamily="34" charset="-120"/>
              </a:rPr>
              <a:t>Capacidad típica: </a:t>
            </a:r>
            <a:pPr indent="0" marL="0">
              <a:buNone/>
            </a:pPr>
            <a:r>
              <a:rPr lang="en-US" sz="1500" dirty="0">
                <a:solidFill>
                  <a:srgbClr val="FFFFFF"/>
                </a:solidFill>
                <a:latin typeface="Calibri" pitchFamily="34" charset="0"/>
                <a:ea typeface="Calibri" pitchFamily="34" charset="-122"/>
                <a:cs typeface="Calibri" pitchFamily="34" charset="-120"/>
              </a:rPr>
              <a:t>2.000 a 2.500 kg. Eleva solo unos centímetros: no apila. </a:t>
            </a:r>
            <a:pPr indent="0" marL="0">
              <a:buNone/>
            </a:pPr>
            <a:r>
              <a:rPr lang="en-US" sz="1500" b="1" dirty="0">
                <a:solidFill>
                  <a:srgbClr val="FFFFFF"/>
                </a:solidFill>
                <a:latin typeface="Calibri" pitchFamily="34" charset="0"/>
                <a:ea typeface="Calibri" pitchFamily="34" charset="-122"/>
                <a:cs typeface="Calibri" pitchFamily="34" charset="-120"/>
              </a:rPr>
              <a:t>El dato que manda es el de su placa.</a:t>
            </a:r>
            <a:endParaRPr lang="en-US" sz="15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Apilador manual: el equipo del movimiento vertical liviano</a:t>
            </a:r>
            <a:endParaRPr lang="en-US" sz="3400" dirty="0"/>
          </a:p>
        </p:txBody>
      </p:sp>
      <p:sp>
        <p:nvSpPr>
          <p:cNvPr id="3" name="Shape 1"/>
          <p:cNvSpPr/>
          <p:nvPr/>
        </p:nvSpPr>
        <p:spPr>
          <a:xfrm>
            <a:off x="548640" y="1463040"/>
            <a:ext cx="6035040" cy="4572000"/>
          </a:xfrm>
          <a:prstGeom prst="roundRect">
            <a:avLst>
              <a:gd name="adj" fmla="val 1600"/>
            </a:avLst>
          </a:prstGeom>
          <a:solidFill>
            <a:srgbClr val="F1F4F8"/>
          </a:solidFill>
          <a:ln w="12700">
            <a:solidFill>
              <a:srgbClr val="D3DBE5"/>
            </a:solidFill>
            <a:prstDash val="solid"/>
          </a:ln>
        </p:spPr>
      </p:sp>
      <p:sp>
        <p:nvSpPr>
          <p:cNvPr id="4" name="Shape 2"/>
          <p:cNvSpPr/>
          <p:nvPr/>
        </p:nvSpPr>
        <p:spPr>
          <a:xfrm>
            <a:off x="2560320" y="1737360"/>
            <a:ext cx="320040" cy="3657600"/>
          </a:xfrm>
          <a:prstGeom prst="rect">
            <a:avLst/>
          </a:prstGeom>
          <a:solidFill>
            <a:srgbClr val="0B2545"/>
          </a:solidFill>
          <a:ln w="12700">
            <a:solidFill>
              <a:srgbClr val="0B2545"/>
            </a:solidFill>
            <a:prstDash val="solid"/>
          </a:ln>
        </p:spPr>
      </p:sp>
      <p:sp>
        <p:nvSpPr>
          <p:cNvPr id="5" name="Shape 3"/>
          <p:cNvSpPr/>
          <p:nvPr/>
        </p:nvSpPr>
        <p:spPr>
          <a:xfrm>
            <a:off x="2971800" y="1737360"/>
            <a:ext cx="109728" cy="3657600"/>
          </a:xfrm>
          <a:prstGeom prst="rect">
            <a:avLst/>
          </a:prstGeom>
          <a:solidFill>
            <a:srgbClr val="5A6878"/>
          </a:solidFill>
          <a:ln w="12700">
            <a:solidFill>
              <a:srgbClr val="5A6878"/>
            </a:solidFill>
            <a:prstDash val="solid"/>
          </a:ln>
        </p:spPr>
      </p:sp>
      <p:sp>
        <p:nvSpPr>
          <p:cNvPr id="6" name="Shape 4"/>
          <p:cNvSpPr/>
          <p:nvPr/>
        </p:nvSpPr>
        <p:spPr>
          <a:xfrm>
            <a:off x="3108960" y="2743200"/>
            <a:ext cx="164592" cy="822960"/>
          </a:xfrm>
          <a:prstGeom prst="rect">
            <a:avLst/>
          </a:prstGeom>
          <a:solidFill>
            <a:srgbClr val="0B2545"/>
          </a:solidFill>
          <a:ln w="12700">
            <a:solidFill>
              <a:srgbClr val="0B2545"/>
            </a:solidFill>
            <a:prstDash val="solid"/>
          </a:ln>
        </p:spPr>
      </p:sp>
      <p:sp>
        <p:nvSpPr>
          <p:cNvPr id="7" name="Shape 5"/>
          <p:cNvSpPr/>
          <p:nvPr/>
        </p:nvSpPr>
        <p:spPr>
          <a:xfrm>
            <a:off x="3108960" y="3401568"/>
            <a:ext cx="2377440" cy="164592"/>
          </a:xfrm>
          <a:prstGeom prst="rect">
            <a:avLst/>
          </a:prstGeom>
          <a:solidFill>
            <a:srgbClr val="0B2545"/>
          </a:solidFill>
          <a:ln w="12700">
            <a:solidFill>
              <a:srgbClr val="0B2545"/>
            </a:solidFill>
            <a:prstDash val="solid"/>
          </a:ln>
        </p:spPr>
      </p:sp>
      <p:sp>
        <p:nvSpPr>
          <p:cNvPr id="8" name="Shape 6"/>
          <p:cNvSpPr/>
          <p:nvPr/>
        </p:nvSpPr>
        <p:spPr>
          <a:xfrm>
            <a:off x="3337560" y="3163824"/>
            <a:ext cx="2103120" cy="219456"/>
          </a:xfrm>
          <a:prstGeom prst="rect">
            <a:avLst/>
          </a:prstGeom>
          <a:solidFill>
            <a:srgbClr val="D99A0B"/>
          </a:solidFill>
          <a:ln w="12700">
            <a:solidFill>
              <a:srgbClr val="D99A0B"/>
            </a:solidFill>
            <a:prstDash val="solid"/>
          </a:ln>
        </p:spPr>
      </p:sp>
      <p:sp>
        <p:nvSpPr>
          <p:cNvPr id="9" name="Shape 7"/>
          <p:cNvSpPr/>
          <p:nvPr/>
        </p:nvSpPr>
        <p:spPr>
          <a:xfrm>
            <a:off x="1920240" y="5394960"/>
            <a:ext cx="3840480" cy="182880"/>
          </a:xfrm>
          <a:prstGeom prst="rect">
            <a:avLst/>
          </a:prstGeom>
          <a:solidFill>
            <a:srgbClr val="0B2545"/>
          </a:solidFill>
          <a:ln w="12700">
            <a:solidFill>
              <a:srgbClr val="0B2545"/>
            </a:solidFill>
            <a:prstDash val="solid"/>
          </a:ln>
        </p:spPr>
      </p:sp>
      <p:sp>
        <p:nvSpPr>
          <p:cNvPr id="10" name="Shape 8"/>
          <p:cNvSpPr/>
          <p:nvPr/>
        </p:nvSpPr>
        <p:spPr>
          <a:xfrm>
            <a:off x="1965960" y="5577840"/>
            <a:ext cx="365760" cy="365760"/>
          </a:xfrm>
          <a:prstGeom prst="ellipse">
            <a:avLst/>
          </a:prstGeom>
          <a:solidFill>
            <a:srgbClr val="5A6878"/>
          </a:solidFill>
          <a:ln w="12700">
            <a:solidFill>
              <a:srgbClr val="1B2733"/>
            </a:solidFill>
            <a:prstDash val="solid"/>
          </a:ln>
        </p:spPr>
      </p:sp>
      <p:sp>
        <p:nvSpPr>
          <p:cNvPr id="11" name="Shape 9"/>
          <p:cNvSpPr/>
          <p:nvPr/>
        </p:nvSpPr>
        <p:spPr>
          <a:xfrm>
            <a:off x="5349240" y="5577840"/>
            <a:ext cx="365760" cy="365760"/>
          </a:xfrm>
          <a:prstGeom prst="ellipse">
            <a:avLst/>
          </a:prstGeom>
          <a:solidFill>
            <a:srgbClr val="5A6878"/>
          </a:solidFill>
          <a:ln w="12700">
            <a:solidFill>
              <a:srgbClr val="1B2733"/>
            </a:solidFill>
            <a:prstDash val="solid"/>
          </a:ln>
        </p:spPr>
      </p:sp>
      <p:sp>
        <p:nvSpPr>
          <p:cNvPr id="12" name="Shape 10"/>
          <p:cNvSpPr/>
          <p:nvPr/>
        </p:nvSpPr>
        <p:spPr>
          <a:xfrm>
            <a:off x="1554480" y="2560320"/>
            <a:ext cx="1005840" cy="1280160"/>
          </a:xfrm>
          <a:prstGeom prst="line">
            <a:avLst/>
          </a:prstGeom>
          <a:noFill/>
          <a:ln w="63500">
            <a:solidFill>
              <a:srgbClr val="0B2545"/>
            </a:solidFill>
            <a:prstDash val="solid"/>
          </a:ln>
        </p:spPr>
      </p:sp>
      <p:sp>
        <p:nvSpPr>
          <p:cNvPr id="13" name="Shape 11"/>
          <p:cNvSpPr/>
          <p:nvPr/>
        </p:nvSpPr>
        <p:spPr>
          <a:xfrm>
            <a:off x="1371600" y="2468880"/>
            <a:ext cx="411480" cy="128016"/>
          </a:xfrm>
          <a:prstGeom prst="rect">
            <a:avLst/>
          </a:prstGeom>
          <a:solidFill>
            <a:srgbClr val="D99A0B"/>
          </a:solidFill>
          <a:ln w="12700">
            <a:solidFill>
              <a:srgbClr val="D99A0B"/>
            </a:solidFill>
            <a:prstDash val="solid"/>
          </a:ln>
        </p:spPr>
      </p:sp>
      <p:sp>
        <p:nvSpPr>
          <p:cNvPr id="14" name="Shape 12"/>
          <p:cNvSpPr/>
          <p:nvPr/>
        </p:nvSpPr>
        <p:spPr>
          <a:xfrm>
            <a:off x="2057400" y="4983480"/>
            <a:ext cx="502920" cy="109728"/>
          </a:xfrm>
          <a:prstGeom prst="rect">
            <a:avLst/>
          </a:prstGeom>
          <a:solidFill>
            <a:srgbClr val="D99A0B"/>
          </a:solidFill>
          <a:ln w="12700">
            <a:solidFill>
              <a:srgbClr val="D99A0B"/>
            </a:solidFill>
            <a:prstDash val="solid"/>
          </a:ln>
        </p:spPr>
      </p:sp>
      <p:sp>
        <p:nvSpPr>
          <p:cNvPr id="15" name="Shape 13"/>
          <p:cNvSpPr/>
          <p:nvPr/>
        </p:nvSpPr>
        <p:spPr>
          <a:xfrm>
            <a:off x="2148840" y="1600200"/>
            <a:ext cx="384048" cy="384048"/>
          </a:xfrm>
          <a:prstGeom prst="ellipse">
            <a:avLst/>
          </a:prstGeom>
          <a:solidFill>
            <a:srgbClr val="D99A0B"/>
          </a:solidFill>
          <a:ln w="25400">
            <a:solidFill>
              <a:srgbClr val="D99A0B"/>
            </a:solidFill>
            <a:prstDash val="solid"/>
          </a:ln>
        </p:spPr>
      </p:sp>
      <p:sp>
        <p:nvSpPr>
          <p:cNvPr id="16" name="Text 14"/>
          <p:cNvSpPr txBox="1"/>
          <p:nvPr/>
        </p:nvSpPr>
        <p:spPr>
          <a:xfrm>
            <a:off x="2148840" y="160020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1</a:t>
            </a:r>
            <a:endParaRPr lang="en-US" sz="1400" dirty="0"/>
          </a:p>
        </p:txBody>
      </p:sp>
      <p:sp>
        <p:nvSpPr>
          <p:cNvPr id="17" name="Shape 15"/>
          <p:cNvSpPr/>
          <p:nvPr/>
        </p:nvSpPr>
        <p:spPr>
          <a:xfrm>
            <a:off x="3429000" y="2148840"/>
            <a:ext cx="384048" cy="384048"/>
          </a:xfrm>
          <a:prstGeom prst="ellipse">
            <a:avLst/>
          </a:prstGeom>
          <a:solidFill>
            <a:srgbClr val="D99A0B"/>
          </a:solidFill>
          <a:ln w="25400">
            <a:solidFill>
              <a:srgbClr val="D99A0B"/>
            </a:solidFill>
            <a:prstDash val="solid"/>
          </a:ln>
        </p:spPr>
      </p:sp>
      <p:sp>
        <p:nvSpPr>
          <p:cNvPr id="18" name="Text 16"/>
          <p:cNvSpPr txBox="1"/>
          <p:nvPr/>
        </p:nvSpPr>
        <p:spPr>
          <a:xfrm>
            <a:off x="3429000" y="214884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2</a:t>
            </a:r>
            <a:endParaRPr lang="en-US" sz="1400" dirty="0"/>
          </a:p>
        </p:txBody>
      </p:sp>
      <p:sp>
        <p:nvSpPr>
          <p:cNvPr id="19" name="Shape 17"/>
          <p:cNvSpPr/>
          <p:nvPr/>
        </p:nvSpPr>
        <p:spPr>
          <a:xfrm>
            <a:off x="4663440" y="3657600"/>
            <a:ext cx="384048" cy="384048"/>
          </a:xfrm>
          <a:prstGeom prst="ellipse">
            <a:avLst/>
          </a:prstGeom>
          <a:solidFill>
            <a:srgbClr val="D99A0B"/>
          </a:solidFill>
          <a:ln w="25400">
            <a:solidFill>
              <a:srgbClr val="D99A0B"/>
            </a:solidFill>
            <a:prstDash val="solid"/>
          </a:ln>
        </p:spPr>
      </p:sp>
      <p:sp>
        <p:nvSpPr>
          <p:cNvPr id="20" name="Text 18"/>
          <p:cNvSpPr txBox="1"/>
          <p:nvPr/>
        </p:nvSpPr>
        <p:spPr>
          <a:xfrm>
            <a:off x="4663440" y="365760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3</a:t>
            </a:r>
            <a:endParaRPr lang="en-US" sz="1400" dirty="0"/>
          </a:p>
        </p:txBody>
      </p:sp>
      <p:sp>
        <p:nvSpPr>
          <p:cNvPr id="21" name="Shape 19"/>
          <p:cNvSpPr/>
          <p:nvPr/>
        </p:nvSpPr>
        <p:spPr>
          <a:xfrm>
            <a:off x="1417320" y="4800600"/>
            <a:ext cx="384048" cy="384048"/>
          </a:xfrm>
          <a:prstGeom prst="ellipse">
            <a:avLst/>
          </a:prstGeom>
          <a:solidFill>
            <a:srgbClr val="D99A0B"/>
          </a:solidFill>
          <a:ln w="25400">
            <a:solidFill>
              <a:srgbClr val="D99A0B"/>
            </a:solidFill>
            <a:prstDash val="solid"/>
          </a:ln>
        </p:spPr>
      </p:sp>
      <p:sp>
        <p:nvSpPr>
          <p:cNvPr id="22" name="Text 20"/>
          <p:cNvSpPr txBox="1"/>
          <p:nvPr/>
        </p:nvSpPr>
        <p:spPr>
          <a:xfrm>
            <a:off x="1417320" y="480060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4</a:t>
            </a:r>
            <a:endParaRPr lang="en-US" sz="1400" dirty="0"/>
          </a:p>
        </p:txBody>
      </p:sp>
      <p:sp>
        <p:nvSpPr>
          <p:cNvPr id="23" name="Shape 21"/>
          <p:cNvSpPr/>
          <p:nvPr/>
        </p:nvSpPr>
        <p:spPr>
          <a:xfrm>
            <a:off x="1234440" y="2697480"/>
            <a:ext cx="384048" cy="384048"/>
          </a:xfrm>
          <a:prstGeom prst="ellipse">
            <a:avLst/>
          </a:prstGeom>
          <a:solidFill>
            <a:srgbClr val="D99A0B"/>
          </a:solidFill>
          <a:ln w="25400">
            <a:solidFill>
              <a:srgbClr val="D99A0B"/>
            </a:solidFill>
            <a:prstDash val="solid"/>
          </a:ln>
        </p:spPr>
      </p:sp>
      <p:sp>
        <p:nvSpPr>
          <p:cNvPr id="24" name="Text 22"/>
          <p:cNvSpPr txBox="1"/>
          <p:nvPr/>
        </p:nvSpPr>
        <p:spPr>
          <a:xfrm>
            <a:off x="1234440" y="269748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5</a:t>
            </a:r>
            <a:endParaRPr lang="en-US" sz="1400" dirty="0"/>
          </a:p>
        </p:txBody>
      </p:sp>
      <p:sp>
        <p:nvSpPr>
          <p:cNvPr id="25" name="Shape 23"/>
          <p:cNvSpPr/>
          <p:nvPr/>
        </p:nvSpPr>
        <p:spPr>
          <a:xfrm>
            <a:off x="5852160" y="5394960"/>
            <a:ext cx="384048" cy="384048"/>
          </a:xfrm>
          <a:prstGeom prst="ellipse">
            <a:avLst/>
          </a:prstGeom>
          <a:solidFill>
            <a:srgbClr val="D99A0B"/>
          </a:solidFill>
          <a:ln w="25400">
            <a:solidFill>
              <a:srgbClr val="D99A0B"/>
            </a:solidFill>
            <a:prstDash val="solid"/>
          </a:ln>
        </p:spPr>
      </p:sp>
      <p:sp>
        <p:nvSpPr>
          <p:cNvPr id="26" name="Text 24"/>
          <p:cNvSpPr txBox="1"/>
          <p:nvPr/>
        </p:nvSpPr>
        <p:spPr>
          <a:xfrm>
            <a:off x="5852160" y="539496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6</a:t>
            </a:r>
            <a:endParaRPr lang="en-US" sz="1400" dirty="0"/>
          </a:p>
        </p:txBody>
      </p:sp>
      <p:sp>
        <p:nvSpPr>
          <p:cNvPr id="27" name="Shape 25"/>
          <p:cNvSpPr/>
          <p:nvPr/>
        </p:nvSpPr>
        <p:spPr>
          <a:xfrm>
            <a:off x="6720840" y="1444752"/>
            <a:ext cx="384048" cy="384048"/>
          </a:xfrm>
          <a:prstGeom prst="ellipse">
            <a:avLst/>
          </a:prstGeom>
          <a:solidFill>
            <a:srgbClr val="D99A0B"/>
          </a:solidFill>
          <a:ln w="25400">
            <a:solidFill>
              <a:srgbClr val="D99A0B"/>
            </a:solidFill>
            <a:prstDash val="solid"/>
          </a:ln>
        </p:spPr>
      </p:sp>
      <p:sp>
        <p:nvSpPr>
          <p:cNvPr id="28" name="Text 26"/>
          <p:cNvSpPr txBox="1"/>
          <p:nvPr/>
        </p:nvSpPr>
        <p:spPr>
          <a:xfrm>
            <a:off x="6720840" y="1444752"/>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1</a:t>
            </a:r>
            <a:endParaRPr lang="en-US" sz="1400" dirty="0"/>
          </a:p>
        </p:txBody>
      </p:sp>
      <p:sp>
        <p:nvSpPr>
          <p:cNvPr id="29" name="Text 27"/>
          <p:cNvSpPr txBox="1"/>
          <p:nvPr/>
        </p:nvSpPr>
        <p:spPr>
          <a:xfrm>
            <a:off x="7269480" y="1417320"/>
            <a:ext cx="4389120" cy="56692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Mástil y cadenas. </a:t>
            </a:r>
            <a:pPr indent="0" marL="0">
              <a:buNone/>
            </a:pPr>
            <a:r>
              <a:rPr lang="en-US" sz="1400" dirty="0">
                <a:solidFill>
                  <a:srgbClr val="1B2733"/>
                </a:solidFill>
                <a:latin typeface="Calibri" pitchFamily="34" charset="0"/>
                <a:ea typeface="Calibri" pitchFamily="34" charset="-122"/>
                <a:cs typeface="Calibri" pitchFamily="34" charset="-120"/>
              </a:rPr>
              <a:t>Guían la subida del tablero porta-horquillas.</a:t>
            </a:r>
            <a:endParaRPr lang="en-US" sz="1400" dirty="0"/>
          </a:p>
        </p:txBody>
      </p:sp>
      <p:sp>
        <p:nvSpPr>
          <p:cNvPr id="30" name="Shape 28"/>
          <p:cNvSpPr/>
          <p:nvPr/>
        </p:nvSpPr>
        <p:spPr>
          <a:xfrm>
            <a:off x="6720840" y="2048256"/>
            <a:ext cx="384048" cy="384048"/>
          </a:xfrm>
          <a:prstGeom prst="ellipse">
            <a:avLst/>
          </a:prstGeom>
          <a:solidFill>
            <a:srgbClr val="D99A0B"/>
          </a:solidFill>
          <a:ln w="25400">
            <a:solidFill>
              <a:srgbClr val="D99A0B"/>
            </a:solidFill>
            <a:prstDash val="solid"/>
          </a:ln>
        </p:spPr>
      </p:sp>
      <p:sp>
        <p:nvSpPr>
          <p:cNvPr id="31" name="Text 29"/>
          <p:cNvSpPr txBox="1"/>
          <p:nvPr/>
        </p:nvSpPr>
        <p:spPr>
          <a:xfrm>
            <a:off x="6720840" y="2048256"/>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2</a:t>
            </a:r>
            <a:endParaRPr lang="en-US" sz="1400" dirty="0"/>
          </a:p>
        </p:txBody>
      </p:sp>
      <p:sp>
        <p:nvSpPr>
          <p:cNvPr id="32" name="Text 30"/>
          <p:cNvSpPr txBox="1"/>
          <p:nvPr/>
        </p:nvSpPr>
        <p:spPr>
          <a:xfrm>
            <a:off x="7269480" y="2020824"/>
            <a:ext cx="4389120" cy="56692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Tablero porta-horquillas. </a:t>
            </a:r>
            <a:pPr indent="0" marL="0">
              <a:buNone/>
            </a:pPr>
            <a:r>
              <a:rPr lang="en-US" sz="1400" dirty="0">
                <a:solidFill>
                  <a:srgbClr val="1B2733"/>
                </a:solidFill>
                <a:latin typeface="Calibri" pitchFamily="34" charset="0"/>
                <a:ea typeface="Calibri" pitchFamily="34" charset="-122"/>
                <a:cs typeface="Calibri" pitchFamily="34" charset="-120"/>
              </a:rPr>
              <a:t>Sube por el mástil con la carga.</a:t>
            </a:r>
            <a:endParaRPr lang="en-US" sz="1400" dirty="0"/>
          </a:p>
        </p:txBody>
      </p:sp>
      <p:sp>
        <p:nvSpPr>
          <p:cNvPr id="33" name="Shape 31"/>
          <p:cNvSpPr/>
          <p:nvPr/>
        </p:nvSpPr>
        <p:spPr>
          <a:xfrm>
            <a:off x="6720840" y="2651760"/>
            <a:ext cx="384048" cy="384048"/>
          </a:xfrm>
          <a:prstGeom prst="ellipse">
            <a:avLst/>
          </a:prstGeom>
          <a:solidFill>
            <a:srgbClr val="D99A0B"/>
          </a:solidFill>
          <a:ln w="25400">
            <a:solidFill>
              <a:srgbClr val="D99A0B"/>
            </a:solidFill>
            <a:prstDash val="solid"/>
          </a:ln>
        </p:spPr>
      </p:sp>
      <p:sp>
        <p:nvSpPr>
          <p:cNvPr id="34" name="Text 32"/>
          <p:cNvSpPr txBox="1"/>
          <p:nvPr/>
        </p:nvSpPr>
        <p:spPr>
          <a:xfrm>
            <a:off x="6720840" y="2651760"/>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3</a:t>
            </a:r>
            <a:endParaRPr lang="en-US" sz="1400" dirty="0"/>
          </a:p>
        </p:txBody>
      </p:sp>
      <p:sp>
        <p:nvSpPr>
          <p:cNvPr id="35" name="Text 33"/>
          <p:cNvSpPr txBox="1"/>
          <p:nvPr/>
        </p:nvSpPr>
        <p:spPr>
          <a:xfrm>
            <a:off x="7269480" y="2624328"/>
            <a:ext cx="4389120" cy="56692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Horquillas. </a:t>
            </a:r>
            <a:pPr indent="0" marL="0">
              <a:buNone/>
            </a:pPr>
            <a:r>
              <a:rPr lang="en-US" sz="1400" dirty="0">
                <a:solidFill>
                  <a:srgbClr val="1B2733"/>
                </a:solidFill>
                <a:latin typeface="Calibri" pitchFamily="34" charset="0"/>
                <a:ea typeface="Calibri" pitchFamily="34" charset="-122"/>
                <a:cs typeface="Calibri" pitchFamily="34" charset="-120"/>
              </a:rPr>
              <a:t>Llevan el pallet; la carga debe ir pegada al tablero.</a:t>
            </a:r>
            <a:endParaRPr lang="en-US" sz="1400" dirty="0"/>
          </a:p>
        </p:txBody>
      </p:sp>
      <p:sp>
        <p:nvSpPr>
          <p:cNvPr id="36" name="Shape 34"/>
          <p:cNvSpPr/>
          <p:nvPr/>
        </p:nvSpPr>
        <p:spPr>
          <a:xfrm>
            <a:off x="6720840" y="3255264"/>
            <a:ext cx="384048" cy="384048"/>
          </a:xfrm>
          <a:prstGeom prst="ellipse">
            <a:avLst/>
          </a:prstGeom>
          <a:solidFill>
            <a:srgbClr val="D99A0B"/>
          </a:solidFill>
          <a:ln w="25400">
            <a:solidFill>
              <a:srgbClr val="D99A0B"/>
            </a:solidFill>
            <a:prstDash val="solid"/>
          </a:ln>
        </p:spPr>
      </p:sp>
      <p:sp>
        <p:nvSpPr>
          <p:cNvPr id="37" name="Text 35"/>
          <p:cNvSpPr txBox="1"/>
          <p:nvPr/>
        </p:nvSpPr>
        <p:spPr>
          <a:xfrm>
            <a:off x="6720840" y="3255264"/>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4</a:t>
            </a:r>
            <a:endParaRPr lang="en-US" sz="1400" dirty="0"/>
          </a:p>
        </p:txBody>
      </p:sp>
      <p:sp>
        <p:nvSpPr>
          <p:cNvPr id="38" name="Text 36"/>
          <p:cNvSpPr txBox="1"/>
          <p:nvPr/>
        </p:nvSpPr>
        <p:spPr>
          <a:xfrm>
            <a:off x="7269480" y="3227832"/>
            <a:ext cx="4389120" cy="56692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Bomba hidráulica de pie o manual. </a:t>
            </a:r>
            <a:pPr indent="0" marL="0">
              <a:buNone/>
            </a:pPr>
            <a:r>
              <a:rPr lang="en-US" sz="1400" dirty="0">
                <a:solidFill>
                  <a:srgbClr val="1B2733"/>
                </a:solidFill>
                <a:latin typeface="Calibri" pitchFamily="34" charset="0"/>
                <a:ea typeface="Calibri" pitchFamily="34" charset="-122"/>
                <a:cs typeface="Calibri" pitchFamily="34" charset="-120"/>
              </a:rPr>
              <a:t>Cada bombeo sube la carga unos centímetros.</a:t>
            </a:r>
            <a:endParaRPr lang="en-US" sz="1400" dirty="0"/>
          </a:p>
        </p:txBody>
      </p:sp>
      <p:sp>
        <p:nvSpPr>
          <p:cNvPr id="39" name="Shape 37"/>
          <p:cNvSpPr/>
          <p:nvPr/>
        </p:nvSpPr>
        <p:spPr>
          <a:xfrm>
            <a:off x="6720840" y="3858768"/>
            <a:ext cx="384048" cy="384048"/>
          </a:xfrm>
          <a:prstGeom prst="ellipse">
            <a:avLst/>
          </a:prstGeom>
          <a:solidFill>
            <a:srgbClr val="D99A0B"/>
          </a:solidFill>
          <a:ln w="25400">
            <a:solidFill>
              <a:srgbClr val="D99A0B"/>
            </a:solidFill>
            <a:prstDash val="solid"/>
          </a:ln>
        </p:spPr>
      </p:sp>
      <p:sp>
        <p:nvSpPr>
          <p:cNvPr id="40" name="Text 38"/>
          <p:cNvSpPr txBox="1"/>
          <p:nvPr/>
        </p:nvSpPr>
        <p:spPr>
          <a:xfrm>
            <a:off x="6720840" y="3858768"/>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5</a:t>
            </a:r>
            <a:endParaRPr lang="en-US" sz="1400" dirty="0"/>
          </a:p>
        </p:txBody>
      </p:sp>
      <p:sp>
        <p:nvSpPr>
          <p:cNvPr id="41" name="Text 39"/>
          <p:cNvSpPr txBox="1"/>
          <p:nvPr/>
        </p:nvSpPr>
        <p:spPr>
          <a:xfrm>
            <a:off x="7269480" y="3831336"/>
            <a:ext cx="4389120" cy="56692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Timón y válvula de descenso. </a:t>
            </a:r>
            <a:pPr indent="0" marL="0">
              <a:buNone/>
            </a:pPr>
            <a:r>
              <a:rPr lang="en-US" sz="1400" dirty="0">
                <a:solidFill>
                  <a:srgbClr val="1B2733"/>
                </a:solidFill>
                <a:latin typeface="Calibri" pitchFamily="34" charset="0"/>
                <a:ea typeface="Calibri" pitchFamily="34" charset="-122"/>
                <a:cs typeface="Calibri" pitchFamily="34" charset="-120"/>
              </a:rPr>
              <a:t>La válvula controla la bajada: siempre despacio.</a:t>
            </a:r>
            <a:endParaRPr lang="en-US" sz="1400" dirty="0"/>
          </a:p>
        </p:txBody>
      </p:sp>
      <p:sp>
        <p:nvSpPr>
          <p:cNvPr id="42" name="Shape 40"/>
          <p:cNvSpPr/>
          <p:nvPr/>
        </p:nvSpPr>
        <p:spPr>
          <a:xfrm>
            <a:off x="6720840" y="4462272"/>
            <a:ext cx="384048" cy="384048"/>
          </a:xfrm>
          <a:prstGeom prst="ellipse">
            <a:avLst/>
          </a:prstGeom>
          <a:solidFill>
            <a:srgbClr val="D99A0B"/>
          </a:solidFill>
          <a:ln w="25400">
            <a:solidFill>
              <a:srgbClr val="D99A0B"/>
            </a:solidFill>
            <a:prstDash val="solid"/>
          </a:ln>
        </p:spPr>
      </p:sp>
      <p:sp>
        <p:nvSpPr>
          <p:cNvPr id="43" name="Text 41"/>
          <p:cNvSpPr txBox="1"/>
          <p:nvPr/>
        </p:nvSpPr>
        <p:spPr>
          <a:xfrm>
            <a:off x="6720840" y="4462272"/>
            <a:ext cx="384048" cy="384048"/>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6</a:t>
            </a:r>
            <a:endParaRPr lang="en-US" sz="1400" dirty="0"/>
          </a:p>
        </p:txBody>
      </p:sp>
      <p:sp>
        <p:nvSpPr>
          <p:cNvPr id="44" name="Text 42"/>
          <p:cNvSpPr txBox="1"/>
          <p:nvPr/>
        </p:nvSpPr>
        <p:spPr>
          <a:xfrm>
            <a:off x="7269480" y="4434840"/>
            <a:ext cx="4389120" cy="566928"/>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Freno de estacionamiento. </a:t>
            </a:r>
            <a:pPr indent="0" marL="0">
              <a:buNone/>
            </a:pPr>
            <a:r>
              <a:rPr lang="en-US" sz="1400" dirty="0">
                <a:solidFill>
                  <a:srgbClr val="1B2733"/>
                </a:solidFill>
                <a:latin typeface="Calibri" pitchFamily="34" charset="0"/>
                <a:ea typeface="Calibri" pitchFamily="34" charset="-122"/>
                <a:cs typeface="Calibri" pitchFamily="34" charset="-120"/>
              </a:rPr>
              <a:t>Se pone antes de elevar.</a:t>
            </a:r>
            <a:endParaRPr lang="en-US" sz="1400" dirty="0"/>
          </a:p>
        </p:txBody>
      </p:sp>
      <p:sp>
        <p:nvSpPr>
          <p:cNvPr id="45" name="Shape 43"/>
          <p:cNvSpPr/>
          <p:nvPr/>
        </p:nvSpPr>
        <p:spPr>
          <a:xfrm>
            <a:off x="6720840" y="5120640"/>
            <a:ext cx="4937760" cy="1051560"/>
          </a:xfrm>
          <a:prstGeom prst="roundRect">
            <a:avLst>
              <a:gd name="adj" fmla="val 6957"/>
            </a:avLst>
          </a:prstGeom>
          <a:solidFill>
            <a:srgbClr val="0B2545"/>
          </a:solidFill>
          <a:ln w="12700">
            <a:solidFill>
              <a:srgbClr val="0B2545"/>
            </a:solidFill>
            <a:prstDash val="solid"/>
          </a:ln>
        </p:spPr>
      </p:sp>
      <p:sp>
        <p:nvSpPr>
          <p:cNvPr id="46" name="Text 44"/>
          <p:cNvSpPr txBox="1"/>
          <p:nvPr/>
        </p:nvSpPr>
        <p:spPr>
          <a:xfrm>
            <a:off x="6949440" y="5230368"/>
            <a:ext cx="4572000" cy="868680"/>
          </a:xfrm>
          <a:prstGeom prst="rect">
            <a:avLst/>
          </a:prstGeom>
          <a:noFill/>
          <a:ln/>
        </p:spPr>
        <p:txBody>
          <a:bodyPr wrap="square" lIns="0" tIns="0" rIns="0" bIns="0" rtlCol="0" anchor="ctr"/>
          <a:lstStyle/>
          <a:p>
            <a:pPr indent="0" marL="0">
              <a:buNone/>
            </a:pPr>
            <a:r>
              <a:rPr lang="en-US" sz="1500" b="1" dirty="0">
                <a:solidFill>
                  <a:srgbClr val="D99A0B"/>
                </a:solidFill>
                <a:latin typeface="Calibri" pitchFamily="34" charset="0"/>
                <a:ea typeface="Calibri" pitchFamily="34" charset="-122"/>
                <a:cs typeface="Calibri" pitchFamily="34" charset="-120"/>
              </a:rPr>
              <a:t>Capacidad típica: </a:t>
            </a:r>
            <a:pPr indent="0" marL="0">
              <a:buNone/>
            </a:pPr>
            <a:r>
              <a:rPr lang="en-US" sz="1500" dirty="0">
                <a:solidFill>
                  <a:srgbClr val="FFFFFF"/>
                </a:solidFill>
                <a:latin typeface="Calibri" pitchFamily="34" charset="0"/>
                <a:ea typeface="Calibri" pitchFamily="34" charset="-122"/>
                <a:cs typeface="Calibri" pitchFamily="34" charset="-120"/>
              </a:rPr>
              <a:t>cerca de 1.000 kg y elevación de 1,6 a 3 m según el modelo. </a:t>
            </a:r>
            <a:pPr indent="0" marL="0">
              <a:buNone/>
            </a:pPr>
            <a:r>
              <a:rPr lang="en-US" sz="1500" b="1" dirty="0">
                <a:solidFill>
                  <a:srgbClr val="FFFFFF"/>
                </a:solidFill>
                <a:latin typeface="Calibri" pitchFamily="34" charset="0"/>
                <a:ea typeface="Calibri" pitchFamily="34" charset="-122"/>
                <a:cs typeface="Calibri" pitchFamily="34" charset="-120"/>
              </a:rPr>
              <a:t>Pesos y alturas reales: los de su placa.</a:t>
            </a:r>
            <a:endParaRPr lang="en-US" sz="15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¿Cuál equipo para cuál movimiento?</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920240"/>
                <a:gridCol w="2286000"/>
                <a:gridCol w="2286000"/>
                <a:gridCol w="2286000"/>
                <a:gridCol w="228600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Criterio</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Transpaleta manual</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Apilador manual</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Montacargas (S3)</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Grúa pórtico</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r>
              <a:tr h="566928">
                <a:tc>
                  <a:txBody>
                    <a:bodyPr/>
                    <a:lstStyle/>
                    <a:p>
                      <a:pPr indent="0" marL="0">
                        <a:buNone/>
                      </a:pPr>
                      <a:r>
                        <a:rPr lang="en-US" sz="1500" b="1" dirty="0">
                          <a:solidFill>
                            <a:srgbClr val="0B2545"/>
                          </a:solidFill>
                          <a:latin typeface="Calibri" pitchFamily="34" charset="0"/>
                          <a:ea typeface="Calibri" pitchFamily="34" charset="-122"/>
                          <a:cs typeface="Calibri" pitchFamily="34" charset="-120"/>
                        </a:rPr>
                        <a:t>Movimiento</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Horizontal</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Vertical liviano</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Horizontal y vertical</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Izaje desde arriba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B2545"/>
                          </a:solidFill>
                          <a:latin typeface="Calibri" pitchFamily="34" charset="0"/>
                          <a:ea typeface="Calibri" pitchFamily="34" charset="-122"/>
                          <a:cs typeface="Calibri" pitchFamily="34" charset="-120"/>
                        </a:rPr>
                        <a:t>Capacidad típica*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2.000–2.500 kg</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 1.000 kg</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1.500–5.000 kg o más</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La de su placa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r>
              <a:tr h="566928">
                <a:tc>
                  <a:txBody>
                    <a:bodyPr/>
                    <a:lstStyle/>
                    <a:p>
                      <a:pPr indent="0" marL="0">
                        <a:buNone/>
                      </a:pPr>
                      <a:r>
                        <a:rPr lang="en-US" sz="1500" b="1" dirty="0">
                          <a:solidFill>
                            <a:srgbClr val="0B2545"/>
                          </a:solidFill>
                          <a:latin typeface="Calibri" pitchFamily="34" charset="0"/>
                          <a:ea typeface="Calibri" pitchFamily="34" charset="-122"/>
                          <a:cs typeface="Calibri" pitchFamily="34" charset="-120"/>
                        </a:rPr>
                        <a:t>Altura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Solo despega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1,6–3 m</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Hasta 6 m o más</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La de su estructura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B2545"/>
                          </a:solidFill>
                          <a:latin typeface="Calibri" pitchFamily="34" charset="0"/>
                          <a:ea typeface="Calibri" pitchFamily="34" charset="-122"/>
                          <a:cs typeface="Calibri" pitchFamily="34" charset="-120"/>
                        </a:rPr>
                        <a:t>Distancia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Corta, piso liso</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Muy corta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Media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Dentro de su área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r>
              <a:tr h="868680">
                <a:tc>
                  <a:txBody>
                    <a:bodyPr/>
                    <a:lstStyle/>
                    <a:p>
                      <a:pPr indent="0" marL="0">
                        <a:buNone/>
                      </a:pPr>
                      <a:r>
                        <a:rPr lang="en-US" sz="1500" b="1" dirty="0">
                          <a:solidFill>
                            <a:srgbClr val="0B2545"/>
                          </a:solidFill>
                          <a:latin typeface="Calibri" pitchFamily="34" charset="0"/>
                          <a:ea typeface="Calibri" pitchFamily="34" charset="-122"/>
                          <a:cs typeface="Calibri" pitchFamily="34" charset="-120"/>
                        </a:rPr>
                        <a:t>Usarlo para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Recibir, trasladar, cargar camión con rampa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Estantería baja con carga liviana</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Racks altos, cargas pesadas, patio</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500" dirty="0">
                          <a:solidFill>
                            <a:srgbClr val="1B2733"/>
                          </a:solidFill>
                          <a:latin typeface="Calibri" pitchFamily="34" charset="0"/>
                          <a:ea typeface="Calibri" pitchFamily="34" charset="-122"/>
                          <a:cs typeface="Calibri" pitchFamily="34" charset="-120"/>
                        </a:rPr>
                        <a:t>Piezas sin pallet o irregulares</a:t>
                      </a:r>
                      <a:endParaRPr lang="en-US" sz="15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15000"/>
            <a:ext cx="11064240" cy="365760"/>
          </a:xfrm>
          <a:prstGeom prst="rect">
            <a:avLst/>
          </a:prstGeom>
          <a:noFill/>
          <a:ln/>
        </p:spPr>
        <p:txBody>
          <a:bodyPr wrap="square" lIns="0" tIns="0" rIns="0" bIns="0" rtlCol="0" anchor="t"/>
          <a:lstStyle/>
          <a:p>
            <a:pPr indent="0" marL="0">
              <a:buNone/>
            </a:pPr>
            <a:r>
              <a:rPr lang="en-US" sz="1300" i="1" dirty="0">
                <a:solidFill>
                  <a:srgbClr val="5A6878"/>
                </a:solidFill>
                <a:latin typeface="Calibri" pitchFamily="34" charset="0"/>
                <a:ea typeface="Calibri" pitchFamily="34" charset="-122"/>
                <a:cs typeface="Calibri" pitchFamily="34" charset="-120"/>
              </a:rPr>
              <a:t>* Valores orientativos de equipos comunes en bodega. La capacidad que vale es la que dice la placa de cada equipo.</a:t>
            </a:r>
            <a:endParaRPr lang="en-US" sz="13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La placa de capacidad: lo primero que se lee</a:t>
            </a:r>
            <a:endParaRPr lang="en-US" sz="3400" dirty="0"/>
          </a:p>
        </p:txBody>
      </p:sp>
      <p:sp>
        <p:nvSpPr>
          <p:cNvPr id="3" name="Shape 1"/>
          <p:cNvSpPr/>
          <p:nvPr/>
        </p:nvSpPr>
        <p:spPr>
          <a:xfrm>
            <a:off x="731520" y="1463040"/>
            <a:ext cx="5120640" cy="4206240"/>
          </a:xfrm>
          <a:prstGeom prst="roundRect">
            <a:avLst>
              <a:gd name="adj" fmla="val 1739"/>
            </a:avLst>
          </a:prstGeom>
          <a:solidFill>
            <a:srgbClr val="E6E9ED"/>
          </a:solidFill>
          <a:ln w="25400">
            <a:solidFill>
              <a:srgbClr val="5A6878"/>
            </a:solidFill>
            <a:prstDash val="solid"/>
          </a:ln>
        </p:spPr>
      </p:sp>
      <p:sp>
        <p:nvSpPr>
          <p:cNvPr id="4" name="Text 2"/>
          <p:cNvSpPr txBox="1"/>
          <p:nvPr/>
        </p:nvSpPr>
        <p:spPr>
          <a:xfrm>
            <a:off x="914400" y="1600200"/>
            <a:ext cx="4754880" cy="365760"/>
          </a:xfrm>
          <a:prstGeom prst="rect">
            <a:avLst/>
          </a:prstGeom>
          <a:noFill/>
          <a:ln/>
        </p:spPr>
        <p:txBody>
          <a:bodyPr wrap="square" lIns="0" tIns="0" rIns="0" bIns="0" rtlCol="0" anchor="t"/>
          <a:lstStyle/>
          <a:p>
            <a:pPr algn="ctr" indent="0" marL="0">
              <a:buNone/>
            </a:pPr>
            <a:r>
              <a:rPr lang="en-US" sz="1400" b="1" dirty="0">
                <a:solidFill>
                  <a:srgbClr val="1B2733"/>
                </a:solidFill>
                <a:latin typeface="Calibri" pitchFamily="34" charset="0"/>
                <a:ea typeface="Calibri" pitchFamily="34" charset="-122"/>
                <a:cs typeface="Calibri" pitchFamily="34" charset="-120"/>
              </a:rPr>
              <a:t>PLACA DE CAPACIDAD · EJEMPLO</a:t>
            </a:r>
            <a:endParaRPr lang="en-US" sz="1400" dirty="0"/>
          </a:p>
        </p:txBody>
      </p:sp>
      <p:sp>
        <p:nvSpPr>
          <p:cNvPr id="5" name="Shape 3"/>
          <p:cNvSpPr/>
          <p:nvPr/>
        </p:nvSpPr>
        <p:spPr>
          <a:xfrm>
            <a:off x="914400" y="2148840"/>
            <a:ext cx="4754880" cy="685800"/>
          </a:xfrm>
          <a:prstGeom prst="rect">
            <a:avLst/>
          </a:prstGeom>
          <a:solidFill>
            <a:srgbClr val="FFFFFF"/>
          </a:solidFill>
          <a:ln w="12700">
            <a:solidFill>
              <a:srgbClr val="5A6878"/>
            </a:solidFill>
            <a:prstDash val="solid"/>
          </a:ln>
        </p:spPr>
      </p:sp>
      <p:sp>
        <p:nvSpPr>
          <p:cNvPr id="6" name="Text 4"/>
          <p:cNvSpPr txBox="1"/>
          <p:nvPr/>
        </p:nvSpPr>
        <p:spPr>
          <a:xfrm>
            <a:off x="1051560" y="2194560"/>
            <a:ext cx="2743200" cy="59436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Capacidad nominal (Q)</a:t>
            </a:r>
            <a:endParaRPr lang="en-US" sz="1400" dirty="0"/>
          </a:p>
        </p:txBody>
      </p:sp>
      <p:sp>
        <p:nvSpPr>
          <p:cNvPr id="7" name="Text 5"/>
          <p:cNvSpPr txBox="1"/>
          <p:nvPr/>
        </p:nvSpPr>
        <p:spPr>
          <a:xfrm>
            <a:off x="3749040" y="2194560"/>
            <a:ext cx="1783080" cy="594360"/>
          </a:xfrm>
          <a:prstGeom prst="rect">
            <a:avLst/>
          </a:prstGeom>
          <a:noFill/>
          <a:ln/>
        </p:spPr>
        <p:txBody>
          <a:bodyPr wrap="square" lIns="0" tIns="0" rIns="0" bIns="0" rtlCol="0" anchor="ctr"/>
          <a:lstStyle/>
          <a:p>
            <a:pPr algn="r" indent="0" marL="0">
              <a:buNone/>
            </a:pPr>
            <a:r>
              <a:rPr lang="en-US" sz="2000" b="1" dirty="0">
                <a:solidFill>
                  <a:srgbClr val="0B2545"/>
                </a:solidFill>
                <a:latin typeface="Calibri" pitchFamily="34" charset="0"/>
                <a:ea typeface="Calibri" pitchFamily="34" charset="-122"/>
                <a:cs typeface="Calibri" pitchFamily="34" charset="-120"/>
              </a:rPr>
              <a:t>1.000 kg</a:t>
            </a:r>
            <a:endParaRPr lang="en-US" sz="2000" dirty="0"/>
          </a:p>
        </p:txBody>
      </p:sp>
      <p:sp>
        <p:nvSpPr>
          <p:cNvPr id="8" name="Shape 6"/>
          <p:cNvSpPr/>
          <p:nvPr/>
        </p:nvSpPr>
        <p:spPr>
          <a:xfrm>
            <a:off x="457200" y="2286000"/>
            <a:ext cx="411480" cy="411480"/>
          </a:xfrm>
          <a:prstGeom prst="ellipse">
            <a:avLst/>
          </a:prstGeom>
          <a:solidFill>
            <a:srgbClr val="D99A0B"/>
          </a:solidFill>
          <a:ln w="25400">
            <a:solidFill>
              <a:srgbClr val="D99A0B"/>
            </a:solidFill>
            <a:prstDash val="solid"/>
          </a:ln>
        </p:spPr>
      </p:sp>
      <p:sp>
        <p:nvSpPr>
          <p:cNvPr id="9" name="Text 7"/>
          <p:cNvSpPr txBox="1"/>
          <p:nvPr/>
        </p:nvSpPr>
        <p:spPr>
          <a:xfrm>
            <a:off x="457200" y="2286000"/>
            <a:ext cx="411480" cy="411480"/>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1</a:t>
            </a:r>
            <a:endParaRPr lang="en-US" sz="1400" dirty="0"/>
          </a:p>
        </p:txBody>
      </p:sp>
      <p:sp>
        <p:nvSpPr>
          <p:cNvPr id="10" name="Shape 8"/>
          <p:cNvSpPr/>
          <p:nvPr/>
        </p:nvSpPr>
        <p:spPr>
          <a:xfrm>
            <a:off x="914400" y="2971800"/>
            <a:ext cx="4754880" cy="685800"/>
          </a:xfrm>
          <a:prstGeom prst="rect">
            <a:avLst/>
          </a:prstGeom>
          <a:solidFill>
            <a:srgbClr val="FFFFFF"/>
          </a:solidFill>
          <a:ln w="12700">
            <a:solidFill>
              <a:srgbClr val="5A6878"/>
            </a:solidFill>
            <a:prstDash val="solid"/>
          </a:ln>
        </p:spPr>
      </p:sp>
      <p:sp>
        <p:nvSpPr>
          <p:cNvPr id="11" name="Text 9"/>
          <p:cNvSpPr txBox="1"/>
          <p:nvPr/>
        </p:nvSpPr>
        <p:spPr>
          <a:xfrm>
            <a:off x="1051560" y="3017520"/>
            <a:ext cx="2743200" cy="59436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Centro de carga (c)</a:t>
            </a:r>
            <a:endParaRPr lang="en-US" sz="1400" dirty="0"/>
          </a:p>
        </p:txBody>
      </p:sp>
      <p:sp>
        <p:nvSpPr>
          <p:cNvPr id="12" name="Text 10"/>
          <p:cNvSpPr txBox="1"/>
          <p:nvPr/>
        </p:nvSpPr>
        <p:spPr>
          <a:xfrm>
            <a:off x="3749040" y="3017520"/>
            <a:ext cx="1783080" cy="594360"/>
          </a:xfrm>
          <a:prstGeom prst="rect">
            <a:avLst/>
          </a:prstGeom>
          <a:noFill/>
          <a:ln/>
        </p:spPr>
        <p:txBody>
          <a:bodyPr wrap="square" lIns="0" tIns="0" rIns="0" bIns="0" rtlCol="0" anchor="ctr"/>
          <a:lstStyle/>
          <a:p>
            <a:pPr algn="r" indent="0" marL="0">
              <a:buNone/>
            </a:pPr>
            <a:r>
              <a:rPr lang="en-US" sz="2000" b="1" dirty="0">
                <a:solidFill>
                  <a:srgbClr val="0B2545"/>
                </a:solidFill>
                <a:latin typeface="Calibri" pitchFamily="34" charset="0"/>
                <a:ea typeface="Calibri" pitchFamily="34" charset="-122"/>
                <a:cs typeface="Calibri" pitchFamily="34" charset="-120"/>
              </a:rPr>
              <a:t>500 mm</a:t>
            </a:r>
            <a:endParaRPr lang="en-US" sz="2000" dirty="0"/>
          </a:p>
        </p:txBody>
      </p:sp>
      <p:sp>
        <p:nvSpPr>
          <p:cNvPr id="13" name="Shape 11"/>
          <p:cNvSpPr/>
          <p:nvPr/>
        </p:nvSpPr>
        <p:spPr>
          <a:xfrm>
            <a:off x="457200" y="3108960"/>
            <a:ext cx="411480" cy="411480"/>
          </a:xfrm>
          <a:prstGeom prst="ellipse">
            <a:avLst/>
          </a:prstGeom>
          <a:solidFill>
            <a:srgbClr val="D99A0B"/>
          </a:solidFill>
          <a:ln w="25400">
            <a:solidFill>
              <a:srgbClr val="D99A0B"/>
            </a:solidFill>
            <a:prstDash val="solid"/>
          </a:ln>
        </p:spPr>
      </p:sp>
      <p:sp>
        <p:nvSpPr>
          <p:cNvPr id="14" name="Text 12"/>
          <p:cNvSpPr txBox="1"/>
          <p:nvPr/>
        </p:nvSpPr>
        <p:spPr>
          <a:xfrm>
            <a:off x="457200" y="3108960"/>
            <a:ext cx="411480" cy="411480"/>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2</a:t>
            </a:r>
            <a:endParaRPr lang="en-US" sz="1400" dirty="0"/>
          </a:p>
        </p:txBody>
      </p:sp>
      <p:sp>
        <p:nvSpPr>
          <p:cNvPr id="15" name="Shape 13"/>
          <p:cNvSpPr/>
          <p:nvPr/>
        </p:nvSpPr>
        <p:spPr>
          <a:xfrm>
            <a:off x="914400" y="3794760"/>
            <a:ext cx="4754880" cy="685800"/>
          </a:xfrm>
          <a:prstGeom prst="rect">
            <a:avLst/>
          </a:prstGeom>
          <a:solidFill>
            <a:srgbClr val="FFFFFF"/>
          </a:solidFill>
          <a:ln w="12700">
            <a:solidFill>
              <a:srgbClr val="5A6878"/>
            </a:solidFill>
            <a:prstDash val="solid"/>
          </a:ln>
        </p:spPr>
      </p:sp>
      <p:sp>
        <p:nvSpPr>
          <p:cNvPr id="16" name="Text 14"/>
          <p:cNvSpPr txBox="1"/>
          <p:nvPr/>
        </p:nvSpPr>
        <p:spPr>
          <a:xfrm>
            <a:off x="1051560" y="3840480"/>
            <a:ext cx="2743200" cy="59436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Altura máxima de elevación (h)</a:t>
            </a:r>
            <a:endParaRPr lang="en-US" sz="1400" dirty="0"/>
          </a:p>
        </p:txBody>
      </p:sp>
      <p:sp>
        <p:nvSpPr>
          <p:cNvPr id="17" name="Text 15"/>
          <p:cNvSpPr txBox="1"/>
          <p:nvPr/>
        </p:nvSpPr>
        <p:spPr>
          <a:xfrm>
            <a:off x="3749040" y="3840480"/>
            <a:ext cx="1783080" cy="594360"/>
          </a:xfrm>
          <a:prstGeom prst="rect">
            <a:avLst/>
          </a:prstGeom>
          <a:noFill/>
          <a:ln/>
        </p:spPr>
        <p:txBody>
          <a:bodyPr wrap="square" lIns="0" tIns="0" rIns="0" bIns="0" rtlCol="0" anchor="ctr"/>
          <a:lstStyle/>
          <a:p>
            <a:pPr algn="r" indent="0" marL="0">
              <a:buNone/>
            </a:pPr>
            <a:r>
              <a:rPr lang="en-US" sz="2000" b="1" dirty="0">
                <a:solidFill>
                  <a:srgbClr val="0B2545"/>
                </a:solidFill>
                <a:latin typeface="Calibri" pitchFamily="34" charset="0"/>
                <a:ea typeface="Calibri" pitchFamily="34" charset="-122"/>
                <a:cs typeface="Calibri" pitchFamily="34" charset="-120"/>
              </a:rPr>
              <a:t>1.600 mm</a:t>
            </a:r>
            <a:endParaRPr lang="en-US" sz="2000" dirty="0"/>
          </a:p>
        </p:txBody>
      </p:sp>
      <p:sp>
        <p:nvSpPr>
          <p:cNvPr id="18" name="Shape 16"/>
          <p:cNvSpPr/>
          <p:nvPr/>
        </p:nvSpPr>
        <p:spPr>
          <a:xfrm>
            <a:off x="457200" y="3931920"/>
            <a:ext cx="411480" cy="411480"/>
          </a:xfrm>
          <a:prstGeom prst="ellipse">
            <a:avLst/>
          </a:prstGeom>
          <a:solidFill>
            <a:srgbClr val="D99A0B"/>
          </a:solidFill>
          <a:ln w="25400">
            <a:solidFill>
              <a:srgbClr val="D99A0B"/>
            </a:solidFill>
            <a:prstDash val="solid"/>
          </a:ln>
        </p:spPr>
      </p:sp>
      <p:sp>
        <p:nvSpPr>
          <p:cNvPr id="19" name="Text 17"/>
          <p:cNvSpPr txBox="1"/>
          <p:nvPr/>
        </p:nvSpPr>
        <p:spPr>
          <a:xfrm>
            <a:off x="457200" y="3931920"/>
            <a:ext cx="411480" cy="411480"/>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3</a:t>
            </a:r>
            <a:endParaRPr lang="en-US" sz="1400" dirty="0"/>
          </a:p>
        </p:txBody>
      </p:sp>
      <p:sp>
        <p:nvSpPr>
          <p:cNvPr id="20" name="Shape 18"/>
          <p:cNvSpPr/>
          <p:nvPr/>
        </p:nvSpPr>
        <p:spPr>
          <a:xfrm>
            <a:off x="914400" y="4617720"/>
            <a:ext cx="4754880" cy="685800"/>
          </a:xfrm>
          <a:prstGeom prst="rect">
            <a:avLst/>
          </a:prstGeom>
          <a:solidFill>
            <a:srgbClr val="FFFFFF"/>
          </a:solidFill>
          <a:ln w="12700">
            <a:solidFill>
              <a:srgbClr val="5A6878"/>
            </a:solidFill>
            <a:prstDash val="solid"/>
          </a:ln>
        </p:spPr>
      </p:sp>
      <p:sp>
        <p:nvSpPr>
          <p:cNvPr id="21" name="Text 19"/>
          <p:cNvSpPr txBox="1"/>
          <p:nvPr/>
        </p:nvSpPr>
        <p:spPr>
          <a:xfrm>
            <a:off x="1051560" y="4663440"/>
            <a:ext cx="2743200" cy="594360"/>
          </a:xfrm>
          <a:prstGeom prst="rect">
            <a:avLst/>
          </a:prstGeom>
          <a:noFill/>
          <a:ln/>
        </p:spPr>
        <p:txBody>
          <a:bodyPr wrap="square" lIns="0" tIns="0" rIns="0" bIns="0" rtlCol="0" anchor="ctr"/>
          <a:lstStyle/>
          <a:p>
            <a:pPr indent="0" marL="0">
              <a:buNone/>
            </a:pPr>
            <a:r>
              <a:rPr lang="en-US" sz="1400" dirty="0">
                <a:solidFill>
                  <a:srgbClr val="1B2733"/>
                </a:solidFill>
                <a:latin typeface="Calibri" pitchFamily="34" charset="0"/>
                <a:ea typeface="Calibri" pitchFamily="34" charset="-122"/>
                <a:cs typeface="Calibri" pitchFamily="34" charset="-120"/>
              </a:rPr>
              <a:t>Peso propio del equipo</a:t>
            </a:r>
            <a:endParaRPr lang="en-US" sz="1400" dirty="0"/>
          </a:p>
        </p:txBody>
      </p:sp>
      <p:sp>
        <p:nvSpPr>
          <p:cNvPr id="22" name="Text 20"/>
          <p:cNvSpPr txBox="1"/>
          <p:nvPr/>
        </p:nvSpPr>
        <p:spPr>
          <a:xfrm>
            <a:off x="3749040" y="4663440"/>
            <a:ext cx="1783080" cy="594360"/>
          </a:xfrm>
          <a:prstGeom prst="rect">
            <a:avLst/>
          </a:prstGeom>
          <a:noFill/>
          <a:ln/>
        </p:spPr>
        <p:txBody>
          <a:bodyPr wrap="square" lIns="0" tIns="0" rIns="0" bIns="0" rtlCol="0" anchor="ctr"/>
          <a:lstStyle/>
          <a:p>
            <a:pPr algn="r" indent="0" marL="0">
              <a:buNone/>
            </a:pPr>
            <a:r>
              <a:rPr lang="en-US" sz="2000" b="1" dirty="0">
                <a:solidFill>
                  <a:srgbClr val="0B2545"/>
                </a:solidFill>
                <a:latin typeface="Calibri" pitchFamily="34" charset="0"/>
                <a:ea typeface="Calibri" pitchFamily="34" charset="-122"/>
                <a:cs typeface="Calibri" pitchFamily="34" charset="-120"/>
              </a:rPr>
              <a:t>250 kg</a:t>
            </a:r>
            <a:endParaRPr lang="en-US" sz="2000" dirty="0"/>
          </a:p>
        </p:txBody>
      </p:sp>
      <p:sp>
        <p:nvSpPr>
          <p:cNvPr id="23" name="Text 21"/>
          <p:cNvSpPr txBox="1"/>
          <p:nvPr/>
        </p:nvSpPr>
        <p:spPr>
          <a:xfrm>
            <a:off x="6400800" y="1463040"/>
            <a:ext cx="5303520" cy="1097280"/>
          </a:xfrm>
          <a:prstGeom prst="rect">
            <a:avLst/>
          </a:prstGeom>
          <a:noFill/>
          <a:ln/>
        </p:spPr>
        <p:txBody>
          <a:bodyPr wrap="square" lIns="0" tIns="0" rIns="0" bIns="0" rtlCol="0" anchor="t"/>
          <a:lstStyle/>
          <a:p>
            <a:pPr indent="0" marL="0">
              <a:buNone/>
            </a:pPr>
            <a:r>
              <a:rPr lang="en-US" sz="1900" b="1" dirty="0">
                <a:solidFill>
                  <a:srgbClr val="0B2545"/>
                </a:solidFill>
                <a:latin typeface="Calibri" pitchFamily="34" charset="0"/>
                <a:ea typeface="Calibri" pitchFamily="34" charset="-122"/>
                <a:cs typeface="Calibri" pitchFamily="34" charset="-120"/>
              </a:rPr>
              <a:t>Capacidad nominal
</a:t>
            </a:r>
            <a:pPr indent="0" marL="0">
              <a:buNone/>
            </a:pPr>
            <a:r>
              <a:rPr lang="en-US" sz="1500" dirty="0">
                <a:solidFill>
                  <a:srgbClr val="1B2733"/>
                </a:solidFill>
                <a:latin typeface="Calibri" pitchFamily="34" charset="0"/>
                <a:ea typeface="Calibri" pitchFamily="34" charset="-122"/>
                <a:cs typeface="Calibri" pitchFamily="34" charset="-120"/>
              </a:rPr>
              <a:t>El peso máximo que puede levantar… pero solo en las condiciones de 2 y 3.</a:t>
            </a:r>
            <a:endParaRPr lang="en-US" sz="1600" dirty="0"/>
          </a:p>
        </p:txBody>
      </p:sp>
      <p:sp>
        <p:nvSpPr>
          <p:cNvPr id="24" name="Text 22"/>
          <p:cNvSpPr txBox="1"/>
          <p:nvPr/>
        </p:nvSpPr>
        <p:spPr>
          <a:xfrm>
            <a:off x="6400800" y="2670048"/>
            <a:ext cx="5303520" cy="1097280"/>
          </a:xfrm>
          <a:prstGeom prst="rect">
            <a:avLst/>
          </a:prstGeom>
          <a:noFill/>
          <a:ln/>
        </p:spPr>
        <p:txBody>
          <a:bodyPr wrap="square" lIns="0" tIns="0" rIns="0" bIns="0" rtlCol="0" anchor="t"/>
          <a:lstStyle/>
          <a:p>
            <a:pPr indent="0" marL="0">
              <a:buNone/>
            </a:pPr>
            <a:r>
              <a:rPr lang="en-US" sz="1900" b="1" dirty="0">
                <a:solidFill>
                  <a:srgbClr val="0B2545"/>
                </a:solidFill>
                <a:latin typeface="Calibri" pitchFamily="34" charset="0"/>
                <a:ea typeface="Calibri" pitchFamily="34" charset="-122"/>
                <a:cs typeface="Calibri" pitchFamily="34" charset="-120"/>
              </a:rPr>
              <a:t>Centro de carga
</a:t>
            </a:r>
            <a:pPr indent="0" marL="0">
              <a:buNone/>
            </a:pPr>
            <a:r>
              <a:rPr lang="en-US" sz="1500" dirty="0">
                <a:solidFill>
                  <a:srgbClr val="1B2733"/>
                </a:solidFill>
                <a:latin typeface="Calibri" pitchFamily="34" charset="0"/>
                <a:ea typeface="Calibri" pitchFamily="34" charset="-122"/>
                <a:cs typeface="Calibri" pitchFamily="34" charset="-120"/>
              </a:rPr>
              <a:t>Distancia del tablero de las horquillas al centro de gravedad de la carga. Si la carga es más larga o va mal apoyada, el centro se aleja y la capacidad real baja.</a:t>
            </a:r>
            <a:endParaRPr lang="en-US" sz="1600" dirty="0"/>
          </a:p>
        </p:txBody>
      </p:sp>
      <p:sp>
        <p:nvSpPr>
          <p:cNvPr id="25" name="Text 23"/>
          <p:cNvSpPr txBox="1"/>
          <p:nvPr/>
        </p:nvSpPr>
        <p:spPr>
          <a:xfrm>
            <a:off x="6400800" y="3877056"/>
            <a:ext cx="5303520" cy="1097280"/>
          </a:xfrm>
          <a:prstGeom prst="rect">
            <a:avLst/>
          </a:prstGeom>
          <a:noFill/>
          <a:ln/>
        </p:spPr>
        <p:txBody>
          <a:bodyPr wrap="square" lIns="0" tIns="0" rIns="0" bIns="0" rtlCol="0" anchor="t"/>
          <a:lstStyle/>
          <a:p>
            <a:pPr indent="0" marL="0">
              <a:buNone/>
            </a:pPr>
            <a:r>
              <a:rPr lang="en-US" sz="1900" b="1" dirty="0">
                <a:solidFill>
                  <a:srgbClr val="0B2545"/>
                </a:solidFill>
                <a:latin typeface="Calibri" pitchFamily="34" charset="0"/>
                <a:ea typeface="Calibri" pitchFamily="34" charset="-122"/>
                <a:cs typeface="Calibri" pitchFamily="34" charset="-120"/>
              </a:rPr>
              <a:t>Altura máxima
</a:t>
            </a:r>
            <a:pPr indent="0" marL="0">
              <a:buNone/>
            </a:pPr>
            <a:r>
              <a:rPr lang="en-US" sz="1500" dirty="0">
                <a:solidFill>
                  <a:srgbClr val="1B2733"/>
                </a:solidFill>
                <a:latin typeface="Calibri" pitchFamily="34" charset="0"/>
                <a:ea typeface="Calibri" pitchFamily="34" charset="-122"/>
                <a:cs typeface="Calibri" pitchFamily="34" charset="-120"/>
              </a:rPr>
              <a:t>Hasta dónde garantiza esa capacidad. Más arriba, menos estabilidad.</a:t>
            </a:r>
            <a:endParaRPr lang="en-US" sz="1600" dirty="0"/>
          </a:p>
        </p:txBody>
      </p:sp>
      <p:sp>
        <p:nvSpPr>
          <p:cNvPr id="26" name="Shape 24"/>
          <p:cNvSpPr/>
          <p:nvPr/>
        </p:nvSpPr>
        <p:spPr>
          <a:xfrm>
            <a:off x="6400800" y="5166360"/>
            <a:ext cx="5257800" cy="868680"/>
          </a:xfrm>
          <a:prstGeom prst="roundRect">
            <a:avLst>
              <a:gd name="adj" fmla="val 8421"/>
            </a:avLst>
          </a:prstGeom>
          <a:solidFill>
            <a:srgbClr val="0B2545"/>
          </a:solidFill>
          <a:ln w="12700">
            <a:solidFill>
              <a:srgbClr val="0B2545"/>
            </a:solidFill>
            <a:prstDash val="solid"/>
          </a:ln>
        </p:spPr>
      </p:sp>
      <p:sp>
        <p:nvSpPr>
          <p:cNvPr id="27" name="Text 25"/>
          <p:cNvSpPr txBox="1"/>
          <p:nvPr/>
        </p:nvSpPr>
        <p:spPr>
          <a:xfrm>
            <a:off x="6583680" y="5230368"/>
            <a:ext cx="493776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Regla del laboratorio: peso de mi unidad de carga ≤ capacidad de la placa. Si no, ese equipo no la mueve.</a:t>
            </a:r>
            <a:endParaRPr lang="en-US" sz="15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Por dónde entra el equipo: depende del pallet</a:t>
            </a:r>
            <a:endParaRPr lang="en-US" sz="3400" dirty="0"/>
          </a:p>
        </p:txBody>
      </p:sp>
      <p:sp>
        <p:nvSpPr>
          <p:cNvPr id="3" name="Text 1"/>
          <p:cNvSpPr txBox="1"/>
          <p:nvPr/>
        </p:nvSpPr>
        <p:spPr>
          <a:xfrm>
            <a:off x="548640" y="1325880"/>
            <a:ext cx="3474720" cy="365760"/>
          </a:xfrm>
          <a:prstGeom prst="rect">
            <a:avLst/>
          </a:prstGeom>
          <a:noFill/>
          <a:ln/>
        </p:spPr>
        <p:txBody>
          <a:bodyPr wrap="square" lIns="0" tIns="0" rIns="0" bIns="0" rtlCol="0" anchor="t"/>
          <a:lstStyle/>
          <a:p>
            <a:pPr indent="0" marL="0">
              <a:buNone/>
            </a:pPr>
            <a:r>
              <a:rPr lang="en-US" sz="1900" b="1" dirty="0">
                <a:solidFill>
                  <a:srgbClr val="0B2545"/>
                </a:solidFill>
                <a:latin typeface="Calibri" pitchFamily="34" charset="0"/>
                <a:ea typeface="Calibri" pitchFamily="34" charset="-122"/>
                <a:cs typeface="Calibri" pitchFamily="34" charset="-120"/>
              </a:rPr>
              <a:t>Europalet 1200 × 800</a:t>
            </a:r>
            <a:endParaRPr lang="en-US" sz="1900" dirty="0"/>
          </a:p>
        </p:txBody>
      </p:sp>
      <p:sp>
        <p:nvSpPr>
          <p:cNvPr id="4" name="Text 2"/>
          <p:cNvSpPr txBox="1"/>
          <p:nvPr/>
        </p:nvSpPr>
        <p:spPr>
          <a:xfrm>
            <a:off x="548640" y="1709928"/>
            <a:ext cx="3474720" cy="320040"/>
          </a:xfrm>
          <a:prstGeom prst="rect">
            <a:avLst/>
          </a:prstGeom>
          <a:noFill/>
          <a:ln/>
        </p:spPr>
        <p:txBody>
          <a:bodyPr wrap="square" lIns="0" tIns="0" rIns="0" bIns="0" rtlCol="0" anchor="t"/>
          <a:lstStyle/>
          <a:p>
            <a:pPr indent="0" marL="0">
              <a:buNone/>
            </a:pPr>
            <a:r>
              <a:rPr lang="en-US" sz="1300" dirty="0">
                <a:solidFill>
                  <a:srgbClr val="5A6878"/>
                </a:solidFill>
                <a:latin typeface="Calibri" pitchFamily="34" charset="0"/>
                <a:ea typeface="Calibri" pitchFamily="34" charset="-122"/>
                <a:cs typeface="Calibri" pitchFamily="34" charset="-120"/>
              </a:rPr>
              <a:t>Vista superior</a:t>
            </a:r>
            <a:endParaRPr lang="en-US" sz="1300" dirty="0"/>
          </a:p>
        </p:txBody>
      </p:sp>
      <p:sp>
        <p:nvSpPr>
          <p:cNvPr id="5" name="Shape 3"/>
          <p:cNvSpPr/>
          <p:nvPr/>
        </p:nvSpPr>
        <p:spPr>
          <a:xfrm>
            <a:off x="1188720" y="2468880"/>
            <a:ext cx="2194560" cy="1463040"/>
          </a:xfrm>
          <a:prstGeom prst="rect">
            <a:avLst/>
          </a:prstGeom>
          <a:solidFill>
            <a:srgbClr val="E9D8B4"/>
          </a:solidFill>
          <a:ln w="19050">
            <a:solidFill>
              <a:srgbClr val="8A6A2B"/>
            </a:solidFill>
            <a:prstDash val="solid"/>
          </a:ln>
        </p:spPr>
      </p:sp>
      <p:sp>
        <p:nvSpPr>
          <p:cNvPr id="6" name="Shape 4"/>
          <p:cNvSpPr/>
          <p:nvPr/>
        </p:nvSpPr>
        <p:spPr>
          <a:xfrm>
            <a:off x="1188720" y="2761488"/>
            <a:ext cx="2194560" cy="0"/>
          </a:xfrm>
          <a:prstGeom prst="line">
            <a:avLst/>
          </a:prstGeom>
          <a:noFill/>
          <a:ln w="9525">
            <a:solidFill>
              <a:srgbClr val="8A6A2B"/>
            </a:solidFill>
            <a:prstDash val="solid"/>
          </a:ln>
        </p:spPr>
      </p:sp>
      <p:sp>
        <p:nvSpPr>
          <p:cNvPr id="7" name="Shape 5"/>
          <p:cNvSpPr/>
          <p:nvPr/>
        </p:nvSpPr>
        <p:spPr>
          <a:xfrm>
            <a:off x="1188720" y="3054096"/>
            <a:ext cx="2194560" cy="0"/>
          </a:xfrm>
          <a:prstGeom prst="line">
            <a:avLst/>
          </a:prstGeom>
          <a:noFill/>
          <a:ln w="9525">
            <a:solidFill>
              <a:srgbClr val="8A6A2B"/>
            </a:solidFill>
            <a:prstDash val="solid"/>
          </a:ln>
        </p:spPr>
      </p:sp>
      <p:sp>
        <p:nvSpPr>
          <p:cNvPr id="8" name="Shape 6"/>
          <p:cNvSpPr/>
          <p:nvPr/>
        </p:nvSpPr>
        <p:spPr>
          <a:xfrm>
            <a:off x="1188720" y="3346704"/>
            <a:ext cx="2194560" cy="0"/>
          </a:xfrm>
          <a:prstGeom prst="line">
            <a:avLst/>
          </a:prstGeom>
          <a:noFill/>
          <a:ln w="9525">
            <a:solidFill>
              <a:srgbClr val="8A6A2B"/>
            </a:solidFill>
            <a:prstDash val="solid"/>
          </a:ln>
        </p:spPr>
      </p:sp>
      <p:sp>
        <p:nvSpPr>
          <p:cNvPr id="9" name="Shape 7"/>
          <p:cNvSpPr/>
          <p:nvPr/>
        </p:nvSpPr>
        <p:spPr>
          <a:xfrm>
            <a:off x="1188720" y="3639312"/>
            <a:ext cx="2194560" cy="0"/>
          </a:xfrm>
          <a:prstGeom prst="line">
            <a:avLst/>
          </a:prstGeom>
          <a:noFill/>
          <a:ln w="9525">
            <a:solidFill>
              <a:srgbClr val="8A6A2B"/>
            </a:solidFill>
            <a:prstDash val="solid"/>
          </a:ln>
        </p:spPr>
      </p:sp>
      <p:sp>
        <p:nvSpPr>
          <p:cNvPr id="10" name="Shape 8"/>
          <p:cNvSpPr/>
          <p:nvPr/>
        </p:nvSpPr>
        <p:spPr>
          <a:xfrm>
            <a:off x="731520" y="3008376"/>
            <a:ext cx="384048" cy="384048"/>
          </a:xfrm>
          <a:prstGeom prst="rightArrow">
            <a:avLst/>
          </a:prstGeom>
          <a:solidFill>
            <a:srgbClr val="2E7D32"/>
          </a:solidFill>
          <a:ln w="12700">
            <a:solidFill>
              <a:srgbClr val="2E7D32"/>
            </a:solidFill>
            <a:prstDash val="solid"/>
          </a:ln>
        </p:spPr>
      </p:sp>
      <p:sp>
        <p:nvSpPr>
          <p:cNvPr id="11" name="Shape 9"/>
          <p:cNvSpPr/>
          <p:nvPr/>
        </p:nvSpPr>
        <p:spPr>
          <a:xfrm>
            <a:off x="3456432" y="3008376"/>
            <a:ext cx="384048" cy="384048"/>
          </a:xfrm>
          <a:prstGeom prst="leftArrow">
            <a:avLst/>
          </a:prstGeom>
          <a:solidFill>
            <a:srgbClr val="2E7D32"/>
          </a:solidFill>
          <a:ln w="12700">
            <a:solidFill>
              <a:srgbClr val="2E7D32"/>
            </a:solidFill>
            <a:prstDash val="solid"/>
          </a:ln>
        </p:spPr>
      </p:sp>
      <p:sp>
        <p:nvSpPr>
          <p:cNvPr id="12" name="Shape 10"/>
          <p:cNvSpPr/>
          <p:nvPr/>
        </p:nvSpPr>
        <p:spPr>
          <a:xfrm>
            <a:off x="2093976" y="2011680"/>
            <a:ext cx="384048" cy="384048"/>
          </a:xfrm>
          <a:prstGeom prst="downArrow">
            <a:avLst/>
          </a:prstGeom>
          <a:solidFill>
            <a:srgbClr val="B03A2E"/>
          </a:solidFill>
          <a:ln w="12700">
            <a:solidFill>
              <a:srgbClr val="B03A2E"/>
            </a:solidFill>
            <a:prstDash val="solid"/>
          </a:ln>
        </p:spPr>
      </p:sp>
      <p:sp>
        <p:nvSpPr>
          <p:cNvPr id="13" name="Shape 11"/>
          <p:cNvSpPr/>
          <p:nvPr/>
        </p:nvSpPr>
        <p:spPr>
          <a:xfrm>
            <a:off x="2093976" y="4005072"/>
            <a:ext cx="384048" cy="384048"/>
          </a:xfrm>
          <a:prstGeom prst="upArrow">
            <a:avLst/>
          </a:prstGeom>
          <a:solidFill>
            <a:srgbClr val="B03A2E"/>
          </a:solidFill>
          <a:ln w="12700">
            <a:solidFill>
              <a:srgbClr val="B03A2E"/>
            </a:solidFill>
            <a:prstDash val="solid"/>
          </a:ln>
        </p:spPr>
      </p:sp>
      <p:sp>
        <p:nvSpPr>
          <p:cNvPr id="14" name="Text 12"/>
          <p:cNvSpPr txBox="1"/>
          <p:nvPr/>
        </p:nvSpPr>
        <p:spPr>
          <a:xfrm>
            <a:off x="4343400" y="1325880"/>
            <a:ext cx="3474720" cy="365760"/>
          </a:xfrm>
          <a:prstGeom prst="rect">
            <a:avLst/>
          </a:prstGeom>
          <a:noFill/>
          <a:ln/>
        </p:spPr>
        <p:txBody>
          <a:bodyPr wrap="square" lIns="0" tIns="0" rIns="0" bIns="0" rtlCol="0" anchor="t"/>
          <a:lstStyle/>
          <a:p>
            <a:pPr indent="0" marL="0">
              <a:buNone/>
            </a:pPr>
            <a:r>
              <a:rPr lang="en-US" sz="1900" b="1" dirty="0">
                <a:solidFill>
                  <a:srgbClr val="0B2545"/>
                </a:solidFill>
                <a:latin typeface="Calibri" pitchFamily="34" charset="0"/>
                <a:ea typeface="Calibri" pitchFamily="34" charset="-122"/>
                <a:cs typeface="Calibri" pitchFamily="34" charset="-120"/>
              </a:rPr>
              <a:t>ISO / Americano 1200 × 1000</a:t>
            </a:r>
            <a:endParaRPr lang="en-US" sz="1900" dirty="0"/>
          </a:p>
        </p:txBody>
      </p:sp>
      <p:sp>
        <p:nvSpPr>
          <p:cNvPr id="15" name="Text 13"/>
          <p:cNvSpPr txBox="1"/>
          <p:nvPr/>
        </p:nvSpPr>
        <p:spPr>
          <a:xfrm>
            <a:off x="4343400" y="1709928"/>
            <a:ext cx="3474720" cy="320040"/>
          </a:xfrm>
          <a:prstGeom prst="rect">
            <a:avLst/>
          </a:prstGeom>
          <a:noFill/>
          <a:ln/>
        </p:spPr>
        <p:txBody>
          <a:bodyPr wrap="square" lIns="0" tIns="0" rIns="0" bIns="0" rtlCol="0" anchor="t"/>
          <a:lstStyle/>
          <a:p>
            <a:pPr indent="0" marL="0">
              <a:buNone/>
            </a:pPr>
            <a:r>
              <a:rPr lang="en-US" sz="1300" dirty="0">
                <a:solidFill>
                  <a:srgbClr val="5A6878"/>
                </a:solidFill>
                <a:latin typeface="Calibri" pitchFamily="34" charset="0"/>
                <a:ea typeface="Calibri" pitchFamily="34" charset="-122"/>
                <a:cs typeface="Calibri" pitchFamily="34" charset="-120"/>
              </a:rPr>
              <a:t>Vista superior</a:t>
            </a:r>
            <a:endParaRPr lang="en-US" sz="1300" dirty="0"/>
          </a:p>
        </p:txBody>
      </p:sp>
      <p:sp>
        <p:nvSpPr>
          <p:cNvPr id="16" name="Shape 14"/>
          <p:cNvSpPr/>
          <p:nvPr/>
        </p:nvSpPr>
        <p:spPr>
          <a:xfrm>
            <a:off x="4983480" y="2468880"/>
            <a:ext cx="2194560" cy="1828800"/>
          </a:xfrm>
          <a:prstGeom prst="rect">
            <a:avLst/>
          </a:prstGeom>
          <a:solidFill>
            <a:srgbClr val="E9D8B4"/>
          </a:solidFill>
          <a:ln w="19050">
            <a:solidFill>
              <a:srgbClr val="8A6A2B"/>
            </a:solidFill>
            <a:prstDash val="solid"/>
          </a:ln>
        </p:spPr>
      </p:sp>
      <p:sp>
        <p:nvSpPr>
          <p:cNvPr id="17" name="Shape 15"/>
          <p:cNvSpPr/>
          <p:nvPr/>
        </p:nvSpPr>
        <p:spPr>
          <a:xfrm>
            <a:off x="4983480" y="2834640"/>
            <a:ext cx="2194560" cy="0"/>
          </a:xfrm>
          <a:prstGeom prst="line">
            <a:avLst/>
          </a:prstGeom>
          <a:noFill/>
          <a:ln w="9525">
            <a:solidFill>
              <a:srgbClr val="8A6A2B"/>
            </a:solidFill>
            <a:prstDash val="solid"/>
          </a:ln>
        </p:spPr>
      </p:sp>
      <p:sp>
        <p:nvSpPr>
          <p:cNvPr id="18" name="Shape 16"/>
          <p:cNvSpPr/>
          <p:nvPr/>
        </p:nvSpPr>
        <p:spPr>
          <a:xfrm>
            <a:off x="4983480" y="3200400"/>
            <a:ext cx="2194560" cy="0"/>
          </a:xfrm>
          <a:prstGeom prst="line">
            <a:avLst/>
          </a:prstGeom>
          <a:noFill/>
          <a:ln w="9525">
            <a:solidFill>
              <a:srgbClr val="8A6A2B"/>
            </a:solidFill>
            <a:prstDash val="solid"/>
          </a:ln>
        </p:spPr>
      </p:sp>
      <p:sp>
        <p:nvSpPr>
          <p:cNvPr id="19" name="Shape 17"/>
          <p:cNvSpPr/>
          <p:nvPr/>
        </p:nvSpPr>
        <p:spPr>
          <a:xfrm>
            <a:off x="4983480" y="3566160"/>
            <a:ext cx="2194560" cy="0"/>
          </a:xfrm>
          <a:prstGeom prst="line">
            <a:avLst/>
          </a:prstGeom>
          <a:noFill/>
          <a:ln w="9525">
            <a:solidFill>
              <a:srgbClr val="8A6A2B"/>
            </a:solidFill>
            <a:prstDash val="solid"/>
          </a:ln>
        </p:spPr>
      </p:sp>
      <p:sp>
        <p:nvSpPr>
          <p:cNvPr id="20" name="Shape 18"/>
          <p:cNvSpPr/>
          <p:nvPr/>
        </p:nvSpPr>
        <p:spPr>
          <a:xfrm>
            <a:off x="4983480" y="3931920"/>
            <a:ext cx="2194560" cy="0"/>
          </a:xfrm>
          <a:prstGeom prst="line">
            <a:avLst/>
          </a:prstGeom>
          <a:noFill/>
          <a:ln w="9525">
            <a:solidFill>
              <a:srgbClr val="8A6A2B"/>
            </a:solidFill>
            <a:prstDash val="solid"/>
          </a:ln>
        </p:spPr>
      </p:sp>
      <p:sp>
        <p:nvSpPr>
          <p:cNvPr id="21" name="Shape 19"/>
          <p:cNvSpPr/>
          <p:nvPr/>
        </p:nvSpPr>
        <p:spPr>
          <a:xfrm>
            <a:off x="4526280" y="3191256"/>
            <a:ext cx="384048" cy="384048"/>
          </a:xfrm>
          <a:prstGeom prst="rightArrow">
            <a:avLst/>
          </a:prstGeom>
          <a:solidFill>
            <a:srgbClr val="2E7D32"/>
          </a:solidFill>
          <a:ln w="12700">
            <a:solidFill>
              <a:srgbClr val="2E7D32"/>
            </a:solidFill>
            <a:prstDash val="solid"/>
          </a:ln>
        </p:spPr>
      </p:sp>
      <p:sp>
        <p:nvSpPr>
          <p:cNvPr id="22" name="Shape 20"/>
          <p:cNvSpPr/>
          <p:nvPr/>
        </p:nvSpPr>
        <p:spPr>
          <a:xfrm>
            <a:off x="7251192" y="3191256"/>
            <a:ext cx="384048" cy="384048"/>
          </a:xfrm>
          <a:prstGeom prst="leftArrow">
            <a:avLst/>
          </a:prstGeom>
          <a:solidFill>
            <a:srgbClr val="2E7D32"/>
          </a:solidFill>
          <a:ln w="12700">
            <a:solidFill>
              <a:srgbClr val="2E7D32"/>
            </a:solidFill>
            <a:prstDash val="solid"/>
          </a:ln>
        </p:spPr>
      </p:sp>
      <p:sp>
        <p:nvSpPr>
          <p:cNvPr id="23" name="Shape 21"/>
          <p:cNvSpPr/>
          <p:nvPr/>
        </p:nvSpPr>
        <p:spPr>
          <a:xfrm>
            <a:off x="5888736" y="2011680"/>
            <a:ext cx="384048" cy="384048"/>
          </a:xfrm>
          <a:prstGeom prst="downArrow">
            <a:avLst/>
          </a:prstGeom>
          <a:solidFill>
            <a:srgbClr val="2E7D32"/>
          </a:solidFill>
          <a:ln w="12700">
            <a:solidFill>
              <a:srgbClr val="2E7D32"/>
            </a:solidFill>
            <a:prstDash val="solid"/>
          </a:ln>
        </p:spPr>
      </p:sp>
      <p:sp>
        <p:nvSpPr>
          <p:cNvPr id="24" name="Shape 22"/>
          <p:cNvSpPr/>
          <p:nvPr/>
        </p:nvSpPr>
        <p:spPr>
          <a:xfrm>
            <a:off x="5888736" y="4370832"/>
            <a:ext cx="384048" cy="384048"/>
          </a:xfrm>
          <a:prstGeom prst="upArrow">
            <a:avLst/>
          </a:prstGeom>
          <a:solidFill>
            <a:srgbClr val="2E7D32"/>
          </a:solidFill>
          <a:ln w="12700">
            <a:solidFill>
              <a:srgbClr val="2E7D32"/>
            </a:solidFill>
            <a:prstDash val="solid"/>
          </a:ln>
        </p:spPr>
      </p:sp>
      <p:sp>
        <p:nvSpPr>
          <p:cNvPr id="25" name="Text 23"/>
          <p:cNvSpPr txBox="1"/>
          <p:nvPr/>
        </p:nvSpPr>
        <p:spPr>
          <a:xfrm>
            <a:off x="8138160" y="1325880"/>
            <a:ext cx="3474720" cy="365760"/>
          </a:xfrm>
          <a:prstGeom prst="rect">
            <a:avLst/>
          </a:prstGeom>
          <a:noFill/>
          <a:ln/>
        </p:spPr>
        <p:txBody>
          <a:bodyPr wrap="square" lIns="0" tIns="0" rIns="0" bIns="0" rtlCol="0" anchor="t"/>
          <a:lstStyle/>
          <a:p>
            <a:pPr indent="0" marL="0">
              <a:buNone/>
            </a:pPr>
            <a:r>
              <a:rPr lang="en-US" sz="1900" b="1" dirty="0">
                <a:solidFill>
                  <a:srgbClr val="0B2545"/>
                </a:solidFill>
                <a:latin typeface="Calibri" pitchFamily="34" charset="0"/>
                <a:ea typeface="Calibri" pitchFamily="34" charset="-122"/>
                <a:cs typeface="Calibri" pitchFamily="34" charset="-120"/>
              </a:rPr>
              <a:t>Pallet plástico</a:t>
            </a:r>
            <a:endParaRPr lang="en-US" sz="1900" dirty="0"/>
          </a:p>
        </p:txBody>
      </p:sp>
      <p:sp>
        <p:nvSpPr>
          <p:cNvPr id="26" name="Text 24"/>
          <p:cNvSpPr txBox="1"/>
          <p:nvPr/>
        </p:nvSpPr>
        <p:spPr>
          <a:xfrm>
            <a:off x="8138160" y="1709928"/>
            <a:ext cx="3474720" cy="320040"/>
          </a:xfrm>
          <a:prstGeom prst="rect">
            <a:avLst/>
          </a:prstGeom>
          <a:noFill/>
          <a:ln/>
        </p:spPr>
        <p:txBody>
          <a:bodyPr wrap="square" lIns="0" tIns="0" rIns="0" bIns="0" rtlCol="0" anchor="t"/>
          <a:lstStyle/>
          <a:p>
            <a:pPr indent="0" marL="0">
              <a:buNone/>
            </a:pPr>
            <a:r>
              <a:rPr lang="en-US" sz="1300" dirty="0">
                <a:solidFill>
                  <a:srgbClr val="5A6878"/>
                </a:solidFill>
                <a:latin typeface="Calibri" pitchFamily="34" charset="0"/>
                <a:ea typeface="Calibri" pitchFamily="34" charset="-122"/>
                <a:cs typeface="Calibri" pitchFamily="34" charset="-120"/>
              </a:rPr>
              <a:t>Vista superior</a:t>
            </a:r>
            <a:endParaRPr lang="en-US" sz="1300" dirty="0"/>
          </a:p>
        </p:txBody>
      </p:sp>
      <p:sp>
        <p:nvSpPr>
          <p:cNvPr id="27" name="Shape 25"/>
          <p:cNvSpPr/>
          <p:nvPr/>
        </p:nvSpPr>
        <p:spPr>
          <a:xfrm>
            <a:off x="8778240" y="2468880"/>
            <a:ext cx="2194560" cy="1828800"/>
          </a:xfrm>
          <a:prstGeom prst="rect">
            <a:avLst/>
          </a:prstGeom>
          <a:solidFill>
            <a:srgbClr val="E9D8B4"/>
          </a:solidFill>
          <a:ln w="19050">
            <a:solidFill>
              <a:srgbClr val="8A6A2B"/>
            </a:solidFill>
            <a:prstDash val="solid"/>
          </a:ln>
        </p:spPr>
      </p:sp>
      <p:sp>
        <p:nvSpPr>
          <p:cNvPr id="28" name="Shape 26"/>
          <p:cNvSpPr/>
          <p:nvPr/>
        </p:nvSpPr>
        <p:spPr>
          <a:xfrm>
            <a:off x="8778240" y="2834640"/>
            <a:ext cx="2194560" cy="0"/>
          </a:xfrm>
          <a:prstGeom prst="line">
            <a:avLst/>
          </a:prstGeom>
          <a:noFill/>
          <a:ln w="9525">
            <a:solidFill>
              <a:srgbClr val="8A6A2B"/>
            </a:solidFill>
            <a:prstDash val="solid"/>
          </a:ln>
        </p:spPr>
      </p:sp>
      <p:sp>
        <p:nvSpPr>
          <p:cNvPr id="29" name="Shape 27"/>
          <p:cNvSpPr/>
          <p:nvPr/>
        </p:nvSpPr>
        <p:spPr>
          <a:xfrm>
            <a:off x="8778240" y="3200400"/>
            <a:ext cx="2194560" cy="0"/>
          </a:xfrm>
          <a:prstGeom prst="line">
            <a:avLst/>
          </a:prstGeom>
          <a:noFill/>
          <a:ln w="9525">
            <a:solidFill>
              <a:srgbClr val="8A6A2B"/>
            </a:solidFill>
            <a:prstDash val="solid"/>
          </a:ln>
        </p:spPr>
      </p:sp>
      <p:sp>
        <p:nvSpPr>
          <p:cNvPr id="30" name="Shape 28"/>
          <p:cNvSpPr/>
          <p:nvPr/>
        </p:nvSpPr>
        <p:spPr>
          <a:xfrm>
            <a:off x="8778240" y="3566160"/>
            <a:ext cx="2194560" cy="0"/>
          </a:xfrm>
          <a:prstGeom prst="line">
            <a:avLst/>
          </a:prstGeom>
          <a:noFill/>
          <a:ln w="9525">
            <a:solidFill>
              <a:srgbClr val="8A6A2B"/>
            </a:solidFill>
            <a:prstDash val="solid"/>
          </a:ln>
        </p:spPr>
      </p:sp>
      <p:sp>
        <p:nvSpPr>
          <p:cNvPr id="31" name="Shape 29"/>
          <p:cNvSpPr/>
          <p:nvPr/>
        </p:nvSpPr>
        <p:spPr>
          <a:xfrm>
            <a:off x="8778240" y="3931920"/>
            <a:ext cx="2194560" cy="0"/>
          </a:xfrm>
          <a:prstGeom prst="line">
            <a:avLst/>
          </a:prstGeom>
          <a:noFill/>
          <a:ln w="9525">
            <a:solidFill>
              <a:srgbClr val="8A6A2B"/>
            </a:solidFill>
            <a:prstDash val="solid"/>
          </a:ln>
        </p:spPr>
      </p:sp>
      <p:sp>
        <p:nvSpPr>
          <p:cNvPr id="32" name="Shape 30"/>
          <p:cNvSpPr/>
          <p:nvPr/>
        </p:nvSpPr>
        <p:spPr>
          <a:xfrm>
            <a:off x="8321040" y="3191256"/>
            <a:ext cx="384048" cy="384048"/>
          </a:xfrm>
          <a:prstGeom prst="rightArrow">
            <a:avLst/>
          </a:prstGeom>
          <a:solidFill>
            <a:srgbClr val="2E7D32"/>
          </a:solidFill>
          <a:ln w="12700">
            <a:solidFill>
              <a:srgbClr val="2E7D32"/>
            </a:solidFill>
            <a:prstDash val="solid"/>
          </a:ln>
        </p:spPr>
      </p:sp>
      <p:sp>
        <p:nvSpPr>
          <p:cNvPr id="33" name="Shape 31"/>
          <p:cNvSpPr/>
          <p:nvPr/>
        </p:nvSpPr>
        <p:spPr>
          <a:xfrm>
            <a:off x="11045952" y="3191256"/>
            <a:ext cx="384048" cy="384048"/>
          </a:xfrm>
          <a:prstGeom prst="leftArrow">
            <a:avLst/>
          </a:prstGeom>
          <a:solidFill>
            <a:srgbClr val="2E7D32"/>
          </a:solidFill>
          <a:ln w="12700">
            <a:solidFill>
              <a:srgbClr val="2E7D32"/>
            </a:solidFill>
            <a:prstDash val="solid"/>
          </a:ln>
        </p:spPr>
      </p:sp>
      <p:sp>
        <p:nvSpPr>
          <p:cNvPr id="34" name="Shape 32"/>
          <p:cNvSpPr/>
          <p:nvPr/>
        </p:nvSpPr>
        <p:spPr>
          <a:xfrm>
            <a:off x="9683496" y="2011680"/>
            <a:ext cx="384048" cy="384048"/>
          </a:xfrm>
          <a:prstGeom prst="downArrow">
            <a:avLst/>
          </a:prstGeom>
          <a:solidFill>
            <a:srgbClr val="2E7D32"/>
          </a:solidFill>
          <a:ln w="12700">
            <a:solidFill>
              <a:srgbClr val="2E7D32"/>
            </a:solidFill>
            <a:prstDash val="solid"/>
          </a:ln>
        </p:spPr>
      </p:sp>
      <p:sp>
        <p:nvSpPr>
          <p:cNvPr id="35" name="Shape 33"/>
          <p:cNvSpPr/>
          <p:nvPr/>
        </p:nvSpPr>
        <p:spPr>
          <a:xfrm>
            <a:off x="9683496" y="4370832"/>
            <a:ext cx="384048" cy="384048"/>
          </a:xfrm>
          <a:prstGeom prst="upArrow">
            <a:avLst/>
          </a:prstGeom>
          <a:solidFill>
            <a:srgbClr val="2E7D32"/>
          </a:solidFill>
          <a:ln w="12700">
            <a:solidFill>
              <a:srgbClr val="2E7D32"/>
            </a:solidFill>
            <a:prstDash val="solid"/>
          </a:ln>
        </p:spPr>
      </p:sp>
      <p:sp>
        <p:nvSpPr>
          <p:cNvPr id="36" name="Text 34"/>
          <p:cNvSpPr txBox="1"/>
          <p:nvPr/>
        </p:nvSpPr>
        <p:spPr>
          <a:xfrm>
            <a:off x="548640" y="4864608"/>
            <a:ext cx="347472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Transpaleta: solo por los lados cortos (800 mm). Por los lados largos las tablas de la base bloquean las ruedas. El montacargas sí entra por los 4 lados.</a:t>
            </a:r>
            <a:endParaRPr lang="en-US" sz="1400" dirty="0"/>
          </a:p>
        </p:txBody>
      </p:sp>
      <p:sp>
        <p:nvSpPr>
          <p:cNvPr id="37" name="Text 35"/>
          <p:cNvSpPr txBox="1"/>
          <p:nvPr/>
        </p:nvSpPr>
        <p:spPr>
          <a:xfrm>
            <a:off x="4343400" y="4864608"/>
            <a:ext cx="347472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Suele admitir entrada por los 4 lados, pero verifique la base: si tiene tablas inferiores en todo el perímetro, la transpaleta queda limitada.</a:t>
            </a:r>
            <a:endParaRPr lang="en-US" sz="1400" dirty="0"/>
          </a:p>
        </p:txBody>
      </p:sp>
      <p:sp>
        <p:nvSpPr>
          <p:cNvPr id="38" name="Text 36"/>
          <p:cNvSpPr txBox="1"/>
          <p:nvPr/>
        </p:nvSpPr>
        <p:spPr>
          <a:xfrm>
            <a:off x="8138160" y="4864608"/>
            <a:ext cx="3474720" cy="100584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Depende del diseño: con patas (anidable) entra por los 4 lados; con patines o base perimetral, no siempre. Revíselo antes de entrar.</a:t>
            </a:r>
            <a:endParaRPr lang="en-US" sz="1400" dirty="0"/>
          </a:p>
        </p:txBody>
      </p:sp>
      <p:sp>
        <p:nvSpPr>
          <p:cNvPr id="39" name="Shape 37"/>
          <p:cNvSpPr/>
          <p:nvPr/>
        </p:nvSpPr>
        <p:spPr>
          <a:xfrm>
            <a:off x="548640" y="5989320"/>
            <a:ext cx="292608" cy="237744"/>
          </a:xfrm>
          <a:prstGeom prst="rightArrow">
            <a:avLst/>
          </a:prstGeom>
          <a:solidFill>
            <a:srgbClr val="2E7D32"/>
          </a:solidFill>
          <a:ln w="12700">
            <a:solidFill>
              <a:srgbClr val="2E7D32"/>
            </a:solidFill>
            <a:prstDash val="solid"/>
          </a:ln>
        </p:spPr>
      </p:sp>
      <p:sp>
        <p:nvSpPr>
          <p:cNvPr id="40" name="Text 38"/>
          <p:cNvSpPr txBox="1"/>
          <p:nvPr/>
        </p:nvSpPr>
        <p:spPr>
          <a:xfrm>
            <a:off x="914400" y="5961888"/>
            <a:ext cx="2286000" cy="292608"/>
          </a:xfrm>
          <a:prstGeom prst="rect">
            <a:avLst/>
          </a:prstGeom>
          <a:noFill/>
          <a:ln/>
        </p:spPr>
        <p:txBody>
          <a:bodyPr wrap="square" lIns="0" tIns="0" rIns="0" bIns="0" rtlCol="0" anchor="t"/>
          <a:lstStyle/>
          <a:p>
            <a:pPr indent="0" marL="0">
              <a:buNone/>
            </a:pPr>
            <a:r>
              <a:rPr lang="en-US" sz="1300" dirty="0">
                <a:solidFill>
                  <a:srgbClr val="5A6878"/>
                </a:solidFill>
                <a:latin typeface="Calibri" pitchFamily="34" charset="0"/>
                <a:ea typeface="Calibri" pitchFamily="34" charset="-122"/>
                <a:cs typeface="Calibri" pitchFamily="34" charset="-120"/>
              </a:rPr>
              <a:t>entra la transpaleta</a:t>
            </a:r>
            <a:endParaRPr lang="en-US" sz="1300" dirty="0"/>
          </a:p>
        </p:txBody>
      </p:sp>
      <p:sp>
        <p:nvSpPr>
          <p:cNvPr id="41" name="Shape 39"/>
          <p:cNvSpPr/>
          <p:nvPr/>
        </p:nvSpPr>
        <p:spPr>
          <a:xfrm>
            <a:off x="3200400" y="5989320"/>
            <a:ext cx="292608" cy="237744"/>
          </a:xfrm>
          <a:prstGeom prst="rightArrow">
            <a:avLst/>
          </a:prstGeom>
          <a:solidFill>
            <a:srgbClr val="B03A2E"/>
          </a:solidFill>
          <a:ln w="12700">
            <a:solidFill>
              <a:srgbClr val="B03A2E"/>
            </a:solidFill>
            <a:prstDash val="solid"/>
          </a:ln>
        </p:spPr>
      </p:sp>
      <p:sp>
        <p:nvSpPr>
          <p:cNvPr id="42" name="Text 40"/>
          <p:cNvSpPr txBox="1"/>
          <p:nvPr/>
        </p:nvSpPr>
        <p:spPr>
          <a:xfrm>
            <a:off x="3566160" y="5961888"/>
            <a:ext cx="4114800" cy="292608"/>
          </a:xfrm>
          <a:prstGeom prst="rect">
            <a:avLst/>
          </a:prstGeom>
          <a:noFill/>
          <a:ln/>
        </p:spPr>
        <p:txBody>
          <a:bodyPr wrap="square" lIns="0" tIns="0" rIns="0" bIns="0" rtlCol="0" anchor="t"/>
          <a:lstStyle/>
          <a:p>
            <a:pPr indent="0" marL="0">
              <a:buNone/>
            </a:pPr>
            <a:r>
              <a:rPr lang="en-US" sz="1300" dirty="0">
                <a:solidFill>
                  <a:srgbClr val="5A6878"/>
                </a:solidFill>
                <a:latin typeface="Calibri" pitchFamily="34" charset="0"/>
                <a:ea typeface="Calibri" pitchFamily="34" charset="-122"/>
                <a:cs typeface="Calibri" pitchFamily="34" charset="-120"/>
              </a:rPr>
              <a:t>no entra (solo horquillas de montacargas)</a:t>
            </a:r>
            <a:endParaRPr lang="en-US" sz="13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Inspección preoperacional: 2 minutos antes de mover</a:t>
            </a:r>
            <a:endParaRPr lang="en-US" sz="3400" dirty="0"/>
          </a:p>
        </p:txBody>
      </p:sp>
      <p:sp>
        <p:nvSpPr>
          <p:cNvPr id="3" name="Shape 1"/>
          <p:cNvSpPr/>
          <p:nvPr/>
        </p:nvSpPr>
        <p:spPr>
          <a:xfrm>
            <a:off x="548640" y="1463040"/>
            <a:ext cx="5394960" cy="1234440"/>
          </a:xfrm>
          <a:prstGeom prst="roundRect">
            <a:avLst>
              <a:gd name="adj" fmla="val 5926"/>
            </a:avLst>
          </a:prstGeom>
          <a:solidFill>
            <a:srgbClr val="F1F4F8"/>
          </a:solidFill>
          <a:ln w="12700">
            <a:solidFill>
              <a:srgbClr val="D3DBE5"/>
            </a:solidFill>
            <a:prstDash val="solid"/>
          </a:ln>
        </p:spPr>
      </p:sp>
      <p:sp>
        <p:nvSpPr>
          <p:cNvPr id="4" name="Shape 2"/>
          <p:cNvSpPr/>
          <p:nvPr/>
        </p:nvSpPr>
        <p:spPr>
          <a:xfrm>
            <a:off x="777240" y="1755648"/>
            <a:ext cx="640080" cy="640080"/>
          </a:xfrm>
          <a:prstGeom prst="ellipse">
            <a:avLst/>
          </a:prstGeom>
          <a:solidFill>
            <a:srgbClr val="0B2545"/>
          </a:solidFill>
          <a:ln w="25400">
            <a:solidFill>
              <a:srgbClr val="D99A0B"/>
            </a:solidFill>
            <a:prstDash val="solid"/>
          </a:ln>
        </p:spPr>
      </p:sp>
      <p:sp>
        <p:nvSpPr>
          <p:cNvPr id="5" name="Text 3"/>
          <p:cNvSpPr txBox="1"/>
          <p:nvPr/>
        </p:nvSpPr>
        <p:spPr>
          <a:xfrm>
            <a:off x="777240" y="1755648"/>
            <a:ext cx="640080" cy="640080"/>
          </a:xfrm>
          <a:prstGeom prst="rect">
            <a:avLst/>
          </a:prstGeom>
          <a:noFill/>
          <a:ln/>
        </p:spPr>
        <p:txBody>
          <a:bodyPr wrap="square" lIns="0" tIns="0" rIns="0" bIns="0" rtlCol="0" anchor="ctr"/>
          <a:lstStyle/>
          <a:p>
            <a:pPr algn="ctr" indent="0" marL="0">
              <a:buNone/>
            </a:pPr>
            <a:r>
              <a:rPr lang="en-US" sz="2400" b="1" dirty="0">
                <a:solidFill>
                  <a:srgbClr val="D99A0B"/>
                </a:solidFill>
                <a:latin typeface="Calibri" pitchFamily="34" charset="0"/>
                <a:ea typeface="Calibri" pitchFamily="34" charset="-122"/>
                <a:cs typeface="Calibri" pitchFamily="34" charset="-120"/>
              </a:rPr>
              <a:t>✓</a:t>
            </a:r>
            <a:endParaRPr lang="en-US" sz="2400" dirty="0"/>
          </a:p>
        </p:txBody>
      </p:sp>
      <p:sp>
        <p:nvSpPr>
          <p:cNvPr id="6" name="Text 4"/>
          <p:cNvSpPr txBox="1"/>
          <p:nvPr/>
        </p:nvSpPr>
        <p:spPr>
          <a:xfrm>
            <a:off x="1600200" y="1600200"/>
            <a:ext cx="4160520" cy="96012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Ruedas y rodillos
</a:t>
            </a:r>
            <a:pPr indent="0" marL="0">
              <a:buNone/>
            </a:pPr>
            <a:r>
              <a:rPr lang="en-US" sz="1500" dirty="0">
                <a:solidFill>
                  <a:srgbClr val="1B2733"/>
                </a:solidFill>
                <a:latin typeface="Calibri" pitchFamily="34" charset="0"/>
                <a:ea typeface="Calibri" pitchFamily="34" charset="-122"/>
                <a:cs typeface="Calibri" pitchFamily="34" charset="-120"/>
              </a:rPr>
              <a:t>Sin daños ni plásticos, flejes o cuerdas enredadas.</a:t>
            </a:r>
            <a:endParaRPr lang="en-US" sz="1600" dirty="0"/>
          </a:p>
        </p:txBody>
      </p:sp>
      <p:sp>
        <p:nvSpPr>
          <p:cNvPr id="7" name="Shape 5"/>
          <p:cNvSpPr/>
          <p:nvPr/>
        </p:nvSpPr>
        <p:spPr>
          <a:xfrm>
            <a:off x="6172200" y="1463040"/>
            <a:ext cx="5394960" cy="1234440"/>
          </a:xfrm>
          <a:prstGeom prst="roundRect">
            <a:avLst>
              <a:gd name="adj" fmla="val 5926"/>
            </a:avLst>
          </a:prstGeom>
          <a:solidFill>
            <a:srgbClr val="F1F4F8"/>
          </a:solidFill>
          <a:ln w="12700">
            <a:solidFill>
              <a:srgbClr val="D3DBE5"/>
            </a:solidFill>
            <a:prstDash val="solid"/>
          </a:ln>
        </p:spPr>
      </p:sp>
      <p:sp>
        <p:nvSpPr>
          <p:cNvPr id="8" name="Shape 6"/>
          <p:cNvSpPr/>
          <p:nvPr/>
        </p:nvSpPr>
        <p:spPr>
          <a:xfrm>
            <a:off x="6400800" y="1755648"/>
            <a:ext cx="640080" cy="640080"/>
          </a:xfrm>
          <a:prstGeom prst="ellipse">
            <a:avLst/>
          </a:prstGeom>
          <a:solidFill>
            <a:srgbClr val="0B2545"/>
          </a:solidFill>
          <a:ln w="25400">
            <a:solidFill>
              <a:srgbClr val="D99A0B"/>
            </a:solidFill>
            <a:prstDash val="solid"/>
          </a:ln>
        </p:spPr>
      </p:sp>
      <p:sp>
        <p:nvSpPr>
          <p:cNvPr id="9" name="Text 7"/>
          <p:cNvSpPr txBox="1"/>
          <p:nvPr/>
        </p:nvSpPr>
        <p:spPr>
          <a:xfrm>
            <a:off x="6400800" y="1755648"/>
            <a:ext cx="640080" cy="640080"/>
          </a:xfrm>
          <a:prstGeom prst="rect">
            <a:avLst/>
          </a:prstGeom>
          <a:noFill/>
          <a:ln/>
        </p:spPr>
        <p:txBody>
          <a:bodyPr wrap="square" lIns="0" tIns="0" rIns="0" bIns="0" rtlCol="0" anchor="ctr"/>
          <a:lstStyle/>
          <a:p>
            <a:pPr algn="ctr" indent="0" marL="0">
              <a:buNone/>
            </a:pPr>
            <a:r>
              <a:rPr lang="en-US" sz="2400" b="1" dirty="0">
                <a:solidFill>
                  <a:srgbClr val="D99A0B"/>
                </a:solidFill>
                <a:latin typeface="Calibri" pitchFamily="34" charset="0"/>
                <a:ea typeface="Calibri" pitchFamily="34" charset="-122"/>
                <a:cs typeface="Calibri" pitchFamily="34" charset="-120"/>
              </a:rPr>
              <a:t>✓</a:t>
            </a:r>
            <a:endParaRPr lang="en-US" sz="2400" dirty="0"/>
          </a:p>
        </p:txBody>
      </p:sp>
      <p:sp>
        <p:nvSpPr>
          <p:cNvPr id="10" name="Text 8"/>
          <p:cNvSpPr txBox="1"/>
          <p:nvPr/>
        </p:nvSpPr>
        <p:spPr>
          <a:xfrm>
            <a:off x="7223760" y="1600200"/>
            <a:ext cx="4160520" cy="96012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Horquillas
</a:t>
            </a:r>
            <a:pPr indent="0" marL="0">
              <a:buNone/>
            </a:pPr>
            <a:r>
              <a:rPr lang="en-US" sz="1500" dirty="0">
                <a:solidFill>
                  <a:srgbClr val="1B2733"/>
                </a:solidFill>
                <a:latin typeface="Calibri" pitchFamily="34" charset="0"/>
                <a:ea typeface="Calibri" pitchFamily="34" charset="-122"/>
                <a:cs typeface="Calibri" pitchFamily="34" charset="-120"/>
              </a:rPr>
              <a:t>Rectas, sin fisuras ni deformaciones.</a:t>
            </a:r>
            <a:endParaRPr lang="en-US" sz="1600" dirty="0"/>
          </a:p>
        </p:txBody>
      </p:sp>
      <p:sp>
        <p:nvSpPr>
          <p:cNvPr id="11" name="Shape 9"/>
          <p:cNvSpPr/>
          <p:nvPr/>
        </p:nvSpPr>
        <p:spPr>
          <a:xfrm>
            <a:off x="548640" y="2880360"/>
            <a:ext cx="5394960" cy="1234440"/>
          </a:xfrm>
          <a:prstGeom prst="roundRect">
            <a:avLst>
              <a:gd name="adj" fmla="val 5926"/>
            </a:avLst>
          </a:prstGeom>
          <a:solidFill>
            <a:srgbClr val="F1F4F8"/>
          </a:solidFill>
          <a:ln w="12700">
            <a:solidFill>
              <a:srgbClr val="D3DBE5"/>
            </a:solidFill>
            <a:prstDash val="solid"/>
          </a:ln>
        </p:spPr>
      </p:sp>
      <p:sp>
        <p:nvSpPr>
          <p:cNvPr id="12" name="Shape 10"/>
          <p:cNvSpPr/>
          <p:nvPr/>
        </p:nvSpPr>
        <p:spPr>
          <a:xfrm>
            <a:off x="777240" y="3172968"/>
            <a:ext cx="640080" cy="640080"/>
          </a:xfrm>
          <a:prstGeom prst="ellipse">
            <a:avLst/>
          </a:prstGeom>
          <a:solidFill>
            <a:srgbClr val="0B2545"/>
          </a:solidFill>
          <a:ln w="25400">
            <a:solidFill>
              <a:srgbClr val="D99A0B"/>
            </a:solidFill>
            <a:prstDash val="solid"/>
          </a:ln>
        </p:spPr>
      </p:sp>
      <p:sp>
        <p:nvSpPr>
          <p:cNvPr id="13" name="Text 11"/>
          <p:cNvSpPr txBox="1"/>
          <p:nvPr/>
        </p:nvSpPr>
        <p:spPr>
          <a:xfrm>
            <a:off x="777240" y="3172968"/>
            <a:ext cx="640080" cy="640080"/>
          </a:xfrm>
          <a:prstGeom prst="rect">
            <a:avLst/>
          </a:prstGeom>
          <a:noFill/>
          <a:ln/>
        </p:spPr>
        <p:txBody>
          <a:bodyPr wrap="square" lIns="0" tIns="0" rIns="0" bIns="0" rtlCol="0" anchor="ctr"/>
          <a:lstStyle/>
          <a:p>
            <a:pPr algn="ctr" indent="0" marL="0">
              <a:buNone/>
            </a:pPr>
            <a:r>
              <a:rPr lang="en-US" sz="2400" b="1" dirty="0">
                <a:solidFill>
                  <a:srgbClr val="D99A0B"/>
                </a:solidFill>
                <a:latin typeface="Calibri" pitchFamily="34" charset="0"/>
                <a:ea typeface="Calibri" pitchFamily="34" charset="-122"/>
                <a:cs typeface="Calibri" pitchFamily="34" charset="-120"/>
              </a:rPr>
              <a:t>✓</a:t>
            </a:r>
            <a:endParaRPr lang="en-US" sz="2400" dirty="0"/>
          </a:p>
        </p:txBody>
      </p:sp>
      <p:sp>
        <p:nvSpPr>
          <p:cNvPr id="14" name="Text 12"/>
          <p:cNvSpPr txBox="1"/>
          <p:nvPr/>
        </p:nvSpPr>
        <p:spPr>
          <a:xfrm>
            <a:off x="1600200" y="3017520"/>
            <a:ext cx="4160520" cy="96012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Sistema hidráulico
</a:t>
            </a:r>
            <a:pPr indent="0" marL="0">
              <a:buNone/>
            </a:pPr>
            <a:r>
              <a:rPr lang="en-US" sz="1500" dirty="0">
                <a:solidFill>
                  <a:srgbClr val="1B2733"/>
                </a:solidFill>
                <a:latin typeface="Calibri" pitchFamily="34" charset="0"/>
                <a:ea typeface="Calibri" pitchFamily="34" charset="-122"/>
                <a:cs typeface="Calibri" pitchFamily="34" charset="-120"/>
              </a:rPr>
              <a:t>Sin fugas de aceite; sube y baja con normalidad.</a:t>
            </a:r>
            <a:endParaRPr lang="en-US" sz="1600" dirty="0"/>
          </a:p>
        </p:txBody>
      </p:sp>
      <p:sp>
        <p:nvSpPr>
          <p:cNvPr id="15" name="Shape 13"/>
          <p:cNvSpPr/>
          <p:nvPr/>
        </p:nvSpPr>
        <p:spPr>
          <a:xfrm>
            <a:off x="6172200" y="2880360"/>
            <a:ext cx="5394960" cy="1234440"/>
          </a:xfrm>
          <a:prstGeom prst="roundRect">
            <a:avLst>
              <a:gd name="adj" fmla="val 5926"/>
            </a:avLst>
          </a:prstGeom>
          <a:solidFill>
            <a:srgbClr val="F1F4F8"/>
          </a:solidFill>
          <a:ln w="12700">
            <a:solidFill>
              <a:srgbClr val="D3DBE5"/>
            </a:solidFill>
            <a:prstDash val="solid"/>
          </a:ln>
        </p:spPr>
      </p:sp>
      <p:sp>
        <p:nvSpPr>
          <p:cNvPr id="16" name="Shape 14"/>
          <p:cNvSpPr/>
          <p:nvPr/>
        </p:nvSpPr>
        <p:spPr>
          <a:xfrm>
            <a:off x="6400800" y="3172968"/>
            <a:ext cx="640080" cy="640080"/>
          </a:xfrm>
          <a:prstGeom prst="ellipse">
            <a:avLst/>
          </a:prstGeom>
          <a:solidFill>
            <a:srgbClr val="0B2545"/>
          </a:solidFill>
          <a:ln w="25400">
            <a:solidFill>
              <a:srgbClr val="D99A0B"/>
            </a:solidFill>
            <a:prstDash val="solid"/>
          </a:ln>
        </p:spPr>
      </p:sp>
      <p:sp>
        <p:nvSpPr>
          <p:cNvPr id="17" name="Text 15"/>
          <p:cNvSpPr txBox="1"/>
          <p:nvPr/>
        </p:nvSpPr>
        <p:spPr>
          <a:xfrm>
            <a:off x="6400800" y="3172968"/>
            <a:ext cx="640080" cy="640080"/>
          </a:xfrm>
          <a:prstGeom prst="rect">
            <a:avLst/>
          </a:prstGeom>
          <a:noFill/>
          <a:ln/>
        </p:spPr>
        <p:txBody>
          <a:bodyPr wrap="square" lIns="0" tIns="0" rIns="0" bIns="0" rtlCol="0" anchor="ctr"/>
          <a:lstStyle/>
          <a:p>
            <a:pPr algn="ctr" indent="0" marL="0">
              <a:buNone/>
            </a:pPr>
            <a:r>
              <a:rPr lang="en-US" sz="2400" b="1" dirty="0">
                <a:solidFill>
                  <a:srgbClr val="D99A0B"/>
                </a:solidFill>
                <a:latin typeface="Calibri" pitchFamily="34" charset="0"/>
                <a:ea typeface="Calibri" pitchFamily="34" charset="-122"/>
                <a:cs typeface="Calibri" pitchFamily="34" charset="-120"/>
              </a:rPr>
              <a:t>✓</a:t>
            </a:r>
            <a:endParaRPr lang="en-US" sz="2400" dirty="0"/>
          </a:p>
        </p:txBody>
      </p:sp>
      <p:sp>
        <p:nvSpPr>
          <p:cNvPr id="18" name="Text 16"/>
          <p:cNvSpPr txBox="1"/>
          <p:nvPr/>
        </p:nvSpPr>
        <p:spPr>
          <a:xfrm>
            <a:off x="7223760" y="3017520"/>
            <a:ext cx="4160520" cy="96012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Mandos
</a:t>
            </a:r>
            <a:pPr indent="0" marL="0">
              <a:buNone/>
            </a:pPr>
            <a:r>
              <a:rPr lang="en-US" sz="1500" dirty="0">
                <a:solidFill>
                  <a:srgbClr val="1B2733"/>
                </a:solidFill>
                <a:latin typeface="Calibri" pitchFamily="34" charset="0"/>
                <a:ea typeface="Calibri" pitchFamily="34" charset="-122"/>
                <a:cs typeface="Calibri" pitchFamily="34" charset="-120"/>
              </a:rPr>
              <a:t>Palanca de subir, neutro y bajar; válvula de descenso del apilador.</a:t>
            </a:r>
            <a:endParaRPr lang="en-US" sz="1600" dirty="0"/>
          </a:p>
        </p:txBody>
      </p:sp>
      <p:sp>
        <p:nvSpPr>
          <p:cNvPr id="19" name="Shape 17"/>
          <p:cNvSpPr/>
          <p:nvPr/>
        </p:nvSpPr>
        <p:spPr>
          <a:xfrm>
            <a:off x="548640" y="4297680"/>
            <a:ext cx="5394960" cy="1234440"/>
          </a:xfrm>
          <a:prstGeom prst="roundRect">
            <a:avLst>
              <a:gd name="adj" fmla="val 5926"/>
            </a:avLst>
          </a:prstGeom>
          <a:solidFill>
            <a:srgbClr val="F1F4F8"/>
          </a:solidFill>
          <a:ln w="12700">
            <a:solidFill>
              <a:srgbClr val="D3DBE5"/>
            </a:solidFill>
            <a:prstDash val="solid"/>
          </a:ln>
        </p:spPr>
      </p:sp>
      <p:sp>
        <p:nvSpPr>
          <p:cNvPr id="20" name="Shape 18"/>
          <p:cNvSpPr/>
          <p:nvPr/>
        </p:nvSpPr>
        <p:spPr>
          <a:xfrm>
            <a:off x="777240" y="4590288"/>
            <a:ext cx="640080" cy="640080"/>
          </a:xfrm>
          <a:prstGeom prst="ellipse">
            <a:avLst/>
          </a:prstGeom>
          <a:solidFill>
            <a:srgbClr val="0B2545"/>
          </a:solidFill>
          <a:ln w="25400">
            <a:solidFill>
              <a:srgbClr val="D99A0B"/>
            </a:solidFill>
            <a:prstDash val="solid"/>
          </a:ln>
        </p:spPr>
      </p:sp>
      <p:sp>
        <p:nvSpPr>
          <p:cNvPr id="21" name="Text 19"/>
          <p:cNvSpPr txBox="1"/>
          <p:nvPr/>
        </p:nvSpPr>
        <p:spPr>
          <a:xfrm>
            <a:off x="777240" y="4590288"/>
            <a:ext cx="640080" cy="640080"/>
          </a:xfrm>
          <a:prstGeom prst="rect">
            <a:avLst/>
          </a:prstGeom>
          <a:noFill/>
          <a:ln/>
        </p:spPr>
        <p:txBody>
          <a:bodyPr wrap="square" lIns="0" tIns="0" rIns="0" bIns="0" rtlCol="0" anchor="ctr"/>
          <a:lstStyle/>
          <a:p>
            <a:pPr algn="ctr" indent="0" marL="0">
              <a:buNone/>
            </a:pPr>
            <a:r>
              <a:rPr lang="en-US" sz="2400" b="1" dirty="0">
                <a:solidFill>
                  <a:srgbClr val="D99A0B"/>
                </a:solidFill>
                <a:latin typeface="Calibri" pitchFamily="34" charset="0"/>
                <a:ea typeface="Calibri" pitchFamily="34" charset="-122"/>
                <a:cs typeface="Calibri" pitchFamily="34" charset="-120"/>
              </a:rPr>
              <a:t>✓</a:t>
            </a:r>
            <a:endParaRPr lang="en-US" sz="2400" dirty="0"/>
          </a:p>
        </p:txBody>
      </p:sp>
      <p:sp>
        <p:nvSpPr>
          <p:cNvPr id="22" name="Text 20"/>
          <p:cNvSpPr txBox="1"/>
          <p:nvPr/>
        </p:nvSpPr>
        <p:spPr>
          <a:xfrm>
            <a:off x="1600200" y="4434840"/>
            <a:ext cx="4160520" cy="96012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Mástil y cadenas
</a:t>
            </a:r>
            <a:pPr indent="0" marL="0">
              <a:buNone/>
            </a:pPr>
            <a:r>
              <a:rPr lang="en-US" sz="1500" dirty="0">
                <a:solidFill>
                  <a:srgbClr val="1B2733"/>
                </a:solidFill>
                <a:latin typeface="Calibri" pitchFamily="34" charset="0"/>
                <a:ea typeface="Calibri" pitchFamily="34" charset="-122"/>
                <a:cs typeface="Calibri" pitchFamily="34" charset="-120"/>
              </a:rPr>
              <a:t>Solo apilador: sin daños, tensión pareja.</a:t>
            </a:r>
            <a:endParaRPr lang="en-US" sz="1600" dirty="0"/>
          </a:p>
        </p:txBody>
      </p:sp>
      <p:sp>
        <p:nvSpPr>
          <p:cNvPr id="23" name="Shape 21"/>
          <p:cNvSpPr/>
          <p:nvPr/>
        </p:nvSpPr>
        <p:spPr>
          <a:xfrm>
            <a:off x="6172200" y="4297680"/>
            <a:ext cx="5394960" cy="1234440"/>
          </a:xfrm>
          <a:prstGeom prst="roundRect">
            <a:avLst>
              <a:gd name="adj" fmla="val 5926"/>
            </a:avLst>
          </a:prstGeom>
          <a:solidFill>
            <a:srgbClr val="F1F4F8"/>
          </a:solidFill>
          <a:ln w="12700">
            <a:solidFill>
              <a:srgbClr val="D3DBE5"/>
            </a:solidFill>
            <a:prstDash val="solid"/>
          </a:ln>
        </p:spPr>
      </p:sp>
      <p:sp>
        <p:nvSpPr>
          <p:cNvPr id="24" name="Shape 22"/>
          <p:cNvSpPr/>
          <p:nvPr/>
        </p:nvSpPr>
        <p:spPr>
          <a:xfrm>
            <a:off x="6400800" y="4590288"/>
            <a:ext cx="640080" cy="640080"/>
          </a:xfrm>
          <a:prstGeom prst="ellipse">
            <a:avLst/>
          </a:prstGeom>
          <a:solidFill>
            <a:srgbClr val="0B2545"/>
          </a:solidFill>
          <a:ln w="25400">
            <a:solidFill>
              <a:srgbClr val="D99A0B"/>
            </a:solidFill>
            <a:prstDash val="solid"/>
          </a:ln>
        </p:spPr>
      </p:sp>
      <p:sp>
        <p:nvSpPr>
          <p:cNvPr id="25" name="Text 23"/>
          <p:cNvSpPr txBox="1"/>
          <p:nvPr/>
        </p:nvSpPr>
        <p:spPr>
          <a:xfrm>
            <a:off x="6400800" y="4590288"/>
            <a:ext cx="640080" cy="640080"/>
          </a:xfrm>
          <a:prstGeom prst="rect">
            <a:avLst/>
          </a:prstGeom>
          <a:noFill/>
          <a:ln/>
        </p:spPr>
        <p:txBody>
          <a:bodyPr wrap="square" lIns="0" tIns="0" rIns="0" bIns="0" rtlCol="0" anchor="ctr"/>
          <a:lstStyle/>
          <a:p>
            <a:pPr algn="ctr" indent="0" marL="0">
              <a:buNone/>
            </a:pPr>
            <a:r>
              <a:rPr lang="en-US" sz="2400" b="1" dirty="0">
                <a:solidFill>
                  <a:srgbClr val="D99A0B"/>
                </a:solidFill>
                <a:latin typeface="Calibri" pitchFamily="34" charset="0"/>
                <a:ea typeface="Calibri" pitchFamily="34" charset="-122"/>
                <a:cs typeface="Calibri" pitchFamily="34" charset="-120"/>
              </a:rPr>
              <a:t>✓</a:t>
            </a:r>
            <a:endParaRPr lang="en-US" sz="2400" dirty="0"/>
          </a:p>
        </p:txBody>
      </p:sp>
      <p:sp>
        <p:nvSpPr>
          <p:cNvPr id="26" name="Text 24"/>
          <p:cNvSpPr txBox="1"/>
          <p:nvPr/>
        </p:nvSpPr>
        <p:spPr>
          <a:xfrm>
            <a:off x="7223760" y="4434840"/>
            <a:ext cx="4160520" cy="960120"/>
          </a:xfrm>
          <a:prstGeom prst="rect">
            <a:avLst/>
          </a:prstGeom>
          <a:noFill/>
          <a:ln/>
        </p:spPr>
        <p:txBody>
          <a:bodyPr wrap="square" lIns="0" tIns="0" rIns="0" bIns="0" rtlCol="0" anchor="ctr"/>
          <a:lstStyle/>
          <a:p>
            <a:pPr indent="0" marL="0">
              <a:buNone/>
            </a:pPr>
            <a:r>
              <a:rPr lang="en-US" sz="1800" b="1" dirty="0">
                <a:solidFill>
                  <a:srgbClr val="0B2545"/>
                </a:solidFill>
                <a:latin typeface="Calibri" pitchFamily="34" charset="0"/>
                <a:ea typeface="Calibri" pitchFamily="34" charset="-122"/>
                <a:cs typeface="Calibri" pitchFamily="34" charset="-120"/>
              </a:rPr>
              <a:t>Freno y placa
</a:t>
            </a:r>
            <a:pPr indent="0" marL="0">
              <a:buNone/>
            </a:pPr>
            <a:r>
              <a:rPr lang="en-US" sz="1500" dirty="0">
                <a:solidFill>
                  <a:srgbClr val="1B2733"/>
                </a:solidFill>
                <a:latin typeface="Calibri" pitchFamily="34" charset="0"/>
                <a:ea typeface="Calibri" pitchFamily="34" charset="-122"/>
                <a:cs typeface="Calibri" pitchFamily="34" charset="-120"/>
              </a:rPr>
              <a:t>Freno del apilador funciona; placa de capacidad legible.</a:t>
            </a:r>
            <a:endParaRPr lang="en-US" sz="1600" dirty="0"/>
          </a:p>
        </p:txBody>
      </p:sp>
      <p:sp>
        <p:nvSpPr>
          <p:cNvPr id="27" name="Text 25"/>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1500" b="1" dirty="0">
                <a:solidFill>
                  <a:srgbClr val="B03A2E"/>
                </a:solidFill>
                <a:latin typeface="Calibri" pitchFamily="34" charset="0"/>
                <a:ea typeface="Calibri" pitchFamily="34" charset="-122"/>
                <a:cs typeface="Calibri" pitchFamily="34" charset="-120"/>
              </a:rPr>
              <a:t>Si un punto falla: el equipo no se usa, se marca y se reporta. En la hoja de laboratorio cada punto se registra como OK, Falla o N/A.</a:t>
            </a:r>
            <a:endParaRPr lang="en-US" sz="15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Reglas del laboratorio</a:t>
            </a:r>
            <a:endParaRPr lang="en-US" sz="3400" dirty="0"/>
          </a:p>
        </p:txBody>
      </p:sp>
      <p:sp>
        <p:nvSpPr>
          <p:cNvPr id="3" name="Shape 1"/>
          <p:cNvSpPr/>
          <p:nvPr/>
        </p:nvSpPr>
        <p:spPr>
          <a:xfrm>
            <a:off x="548640" y="1463040"/>
            <a:ext cx="3474720" cy="1737360"/>
          </a:xfrm>
          <a:prstGeom prst="roundRect">
            <a:avLst>
              <a:gd name="adj" fmla="val 4211"/>
            </a:avLst>
          </a:prstGeom>
          <a:solidFill>
            <a:srgbClr val="F1F4F8"/>
          </a:solidFill>
          <a:ln w="12700">
            <a:solidFill>
              <a:srgbClr val="D3DBE5"/>
            </a:solidFill>
            <a:prstDash val="solid"/>
          </a:ln>
        </p:spPr>
      </p:sp>
      <p:sp>
        <p:nvSpPr>
          <p:cNvPr id="4" name="Shape 2"/>
          <p:cNvSpPr/>
          <p:nvPr/>
        </p:nvSpPr>
        <p:spPr>
          <a:xfrm>
            <a:off x="777240" y="1691640"/>
            <a:ext cx="502920" cy="502920"/>
          </a:xfrm>
          <a:prstGeom prst="ellipse">
            <a:avLst/>
          </a:prstGeom>
          <a:solidFill>
            <a:srgbClr val="0B2545"/>
          </a:solidFill>
          <a:ln w="25400">
            <a:solidFill>
              <a:srgbClr val="D99A0B"/>
            </a:solidFill>
            <a:prstDash val="solid"/>
          </a:ln>
        </p:spPr>
      </p:sp>
      <p:sp>
        <p:nvSpPr>
          <p:cNvPr id="5" name="Text 3"/>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400" b="1" dirty="0">
                <a:solidFill>
                  <a:srgbClr val="D99A0B"/>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417320" y="1691640"/>
            <a:ext cx="2468880" cy="502920"/>
          </a:xfrm>
          <a:prstGeom prst="rect">
            <a:avLst/>
          </a:prstGeom>
          <a:noFill/>
          <a:ln/>
        </p:spPr>
        <p:txBody>
          <a:bodyPr wrap="square" lIns="0" tIns="0" rIns="0" bIns="0" rtlCol="0" anchor="ctr"/>
          <a:lstStyle/>
          <a:p>
            <a:pPr indent="0" marL="0">
              <a:buNone/>
            </a:pPr>
            <a:r>
              <a:rPr lang="en-US" sz="1900" b="1" dirty="0">
                <a:solidFill>
                  <a:srgbClr val="0B2545"/>
                </a:solidFill>
                <a:latin typeface="Calibri" pitchFamily="34" charset="0"/>
                <a:ea typeface="Calibri" pitchFamily="34" charset="-122"/>
                <a:cs typeface="Calibri" pitchFamily="34" charset="-120"/>
              </a:rPr>
              <a:t>EPP completo</a:t>
            </a:r>
            <a:endParaRPr lang="en-US" sz="1900" dirty="0"/>
          </a:p>
        </p:txBody>
      </p:sp>
      <p:sp>
        <p:nvSpPr>
          <p:cNvPr id="7" name="Text 5"/>
          <p:cNvSpPr txBox="1"/>
          <p:nvPr/>
        </p:nvSpPr>
        <p:spPr>
          <a:xfrm>
            <a:off x="777240" y="2331720"/>
            <a:ext cx="3063240" cy="73152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Botas de seguridad, chaleco reflectivo y guantes.</a:t>
            </a:r>
            <a:endParaRPr lang="en-US" sz="1500" dirty="0"/>
          </a:p>
        </p:txBody>
      </p:sp>
      <p:sp>
        <p:nvSpPr>
          <p:cNvPr id="8" name="Shape 6"/>
          <p:cNvSpPr/>
          <p:nvPr/>
        </p:nvSpPr>
        <p:spPr>
          <a:xfrm>
            <a:off x="4297680" y="1463040"/>
            <a:ext cx="3474720" cy="1737360"/>
          </a:xfrm>
          <a:prstGeom prst="roundRect">
            <a:avLst>
              <a:gd name="adj" fmla="val 4211"/>
            </a:avLst>
          </a:prstGeom>
          <a:solidFill>
            <a:srgbClr val="0B2545"/>
          </a:solidFill>
          <a:ln w="12700">
            <a:solidFill>
              <a:srgbClr val="0B2545"/>
            </a:solidFill>
            <a:prstDash val="solid"/>
          </a:ln>
        </p:spPr>
      </p:sp>
      <p:sp>
        <p:nvSpPr>
          <p:cNvPr id="9" name="Shape 7"/>
          <p:cNvSpPr/>
          <p:nvPr/>
        </p:nvSpPr>
        <p:spPr>
          <a:xfrm>
            <a:off x="4526280" y="1691640"/>
            <a:ext cx="502920" cy="502920"/>
          </a:xfrm>
          <a:prstGeom prst="ellipse">
            <a:avLst/>
          </a:prstGeom>
          <a:solidFill>
            <a:srgbClr val="0B2545"/>
          </a:solidFill>
          <a:ln w="25400">
            <a:solidFill>
              <a:srgbClr val="D99A0B"/>
            </a:solidFill>
            <a:prstDash val="solid"/>
          </a:ln>
        </p:spPr>
      </p:sp>
      <p:sp>
        <p:nvSpPr>
          <p:cNvPr id="10" name="Text 8"/>
          <p:cNvSpPr txBox="1"/>
          <p:nvPr/>
        </p:nvSpPr>
        <p:spPr>
          <a:xfrm>
            <a:off x="4526280" y="1691640"/>
            <a:ext cx="502920" cy="502920"/>
          </a:xfrm>
          <a:prstGeom prst="rect">
            <a:avLst/>
          </a:prstGeom>
          <a:noFill/>
          <a:ln/>
        </p:spPr>
        <p:txBody>
          <a:bodyPr wrap="square" lIns="0" tIns="0" rIns="0" bIns="0" rtlCol="0" anchor="ctr"/>
          <a:lstStyle/>
          <a:p>
            <a:pPr algn="ctr" indent="0" marL="0">
              <a:buNone/>
            </a:pPr>
            <a:r>
              <a:rPr lang="en-US" sz="1400" b="1" dirty="0">
                <a:solidFill>
                  <a:srgbClr val="D99A0B"/>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5166360" y="1691640"/>
            <a:ext cx="2468880" cy="502920"/>
          </a:xfrm>
          <a:prstGeom prst="rect">
            <a:avLst/>
          </a:prstGeom>
          <a:noFill/>
          <a:ln/>
        </p:spPr>
        <p:txBody>
          <a:bodyPr wrap="square" lIns="0" tIns="0" rIns="0" bIns="0" rtlCol="0" anchor="ctr"/>
          <a:lstStyle/>
          <a:p>
            <a:pPr indent="0" marL="0">
              <a:buNone/>
            </a:pPr>
            <a:r>
              <a:rPr lang="en-US" sz="1900" b="1" dirty="0">
                <a:solidFill>
                  <a:srgbClr val="D99A0B"/>
                </a:solidFill>
                <a:latin typeface="Calibri" pitchFamily="34" charset="0"/>
                <a:ea typeface="Calibri" pitchFamily="34" charset="-122"/>
                <a:cs typeface="Calibri" pitchFamily="34" charset="-120"/>
              </a:rPr>
              <a:t>Nadie bajo la carga</a:t>
            </a:r>
            <a:endParaRPr lang="en-US" sz="1900" dirty="0"/>
          </a:p>
        </p:txBody>
      </p:sp>
      <p:sp>
        <p:nvSpPr>
          <p:cNvPr id="12" name="Text 10"/>
          <p:cNvSpPr txBox="1"/>
          <p:nvPr/>
        </p:nvSpPr>
        <p:spPr>
          <a:xfrm>
            <a:off x="4526280" y="2331720"/>
            <a:ext cx="306324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Ni horquillas elevadas ni carga suspendida de la grúa.</a:t>
            </a:r>
            <a:endParaRPr lang="en-US" sz="1500" dirty="0"/>
          </a:p>
        </p:txBody>
      </p:sp>
      <p:sp>
        <p:nvSpPr>
          <p:cNvPr id="13" name="Shape 11"/>
          <p:cNvSpPr/>
          <p:nvPr/>
        </p:nvSpPr>
        <p:spPr>
          <a:xfrm>
            <a:off x="8046720" y="1463040"/>
            <a:ext cx="3474720" cy="1737360"/>
          </a:xfrm>
          <a:prstGeom prst="roundRect">
            <a:avLst>
              <a:gd name="adj" fmla="val 4211"/>
            </a:avLst>
          </a:prstGeom>
          <a:solidFill>
            <a:srgbClr val="F1F4F8"/>
          </a:solidFill>
          <a:ln w="12700">
            <a:solidFill>
              <a:srgbClr val="D3DBE5"/>
            </a:solidFill>
            <a:prstDash val="solid"/>
          </a:ln>
        </p:spPr>
      </p:sp>
      <p:sp>
        <p:nvSpPr>
          <p:cNvPr id="14" name="Shape 12"/>
          <p:cNvSpPr/>
          <p:nvPr/>
        </p:nvSpPr>
        <p:spPr>
          <a:xfrm>
            <a:off x="8275320" y="1691640"/>
            <a:ext cx="502920" cy="502920"/>
          </a:xfrm>
          <a:prstGeom prst="ellipse">
            <a:avLst/>
          </a:prstGeom>
          <a:solidFill>
            <a:srgbClr val="0B2545"/>
          </a:solidFill>
          <a:ln w="25400">
            <a:solidFill>
              <a:srgbClr val="D99A0B"/>
            </a:solidFill>
            <a:prstDash val="solid"/>
          </a:ln>
        </p:spPr>
      </p:sp>
      <p:sp>
        <p:nvSpPr>
          <p:cNvPr id="15" name="Text 13"/>
          <p:cNvSpPr txBox="1"/>
          <p:nvPr/>
        </p:nvSpPr>
        <p:spPr>
          <a:xfrm>
            <a:off x="8275320" y="1691640"/>
            <a:ext cx="502920" cy="502920"/>
          </a:xfrm>
          <a:prstGeom prst="rect">
            <a:avLst/>
          </a:prstGeom>
          <a:noFill/>
          <a:ln/>
        </p:spPr>
        <p:txBody>
          <a:bodyPr wrap="square" lIns="0" tIns="0" rIns="0" bIns="0" rtlCol="0" anchor="ctr"/>
          <a:lstStyle/>
          <a:p>
            <a:pPr algn="ctr" indent="0" marL="0">
              <a:buNone/>
            </a:pPr>
            <a:r>
              <a:rPr lang="en-US" sz="1400" b="1" dirty="0">
                <a:solidFill>
                  <a:srgbClr val="D99A0B"/>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8915400" y="1691640"/>
            <a:ext cx="2468880" cy="502920"/>
          </a:xfrm>
          <a:prstGeom prst="rect">
            <a:avLst/>
          </a:prstGeom>
          <a:noFill/>
          <a:ln/>
        </p:spPr>
        <p:txBody>
          <a:bodyPr wrap="square" lIns="0" tIns="0" rIns="0" bIns="0" rtlCol="0" anchor="ctr"/>
          <a:lstStyle/>
          <a:p>
            <a:pPr indent="0" marL="0">
              <a:buNone/>
            </a:pPr>
            <a:r>
              <a:rPr lang="en-US" sz="1900" b="1" dirty="0">
                <a:solidFill>
                  <a:srgbClr val="0B2545"/>
                </a:solidFill>
                <a:latin typeface="Calibri" pitchFamily="34" charset="0"/>
                <a:ea typeface="Calibri" pitchFamily="34" charset="-122"/>
                <a:cs typeface="Calibri" pitchFamily="34" charset="-120"/>
              </a:rPr>
              <a:t>No se suben personas</a:t>
            </a:r>
            <a:endParaRPr lang="en-US" sz="1900" dirty="0"/>
          </a:p>
        </p:txBody>
      </p:sp>
      <p:sp>
        <p:nvSpPr>
          <p:cNvPr id="17" name="Text 15"/>
          <p:cNvSpPr txBox="1"/>
          <p:nvPr/>
        </p:nvSpPr>
        <p:spPr>
          <a:xfrm>
            <a:off x="8275320" y="2331720"/>
            <a:ext cx="3063240" cy="73152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Los equipos mueven carga, no gente.</a:t>
            </a:r>
            <a:endParaRPr lang="en-US" sz="1500" dirty="0"/>
          </a:p>
        </p:txBody>
      </p:sp>
      <p:sp>
        <p:nvSpPr>
          <p:cNvPr id="18" name="Shape 16"/>
          <p:cNvSpPr/>
          <p:nvPr/>
        </p:nvSpPr>
        <p:spPr>
          <a:xfrm>
            <a:off x="548640" y="3429000"/>
            <a:ext cx="3474720" cy="1737360"/>
          </a:xfrm>
          <a:prstGeom prst="roundRect">
            <a:avLst>
              <a:gd name="adj" fmla="val 4211"/>
            </a:avLst>
          </a:prstGeom>
          <a:solidFill>
            <a:srgbClr val="F1F4F8"/>
          </a:solidFill>
          <a:ln w="12700">
            <a:solidFill>
              <a:srgbClr val="D3DBE5"/>
            </a:solidFill>
            <a:prstDash val="solid"/>
          </a:ln>
        </p:spPr>
      </p:sp>
      <p:sp>
        <p:nvSpPr>
          <p:cNvPr id="19" name="Shape 17"/>
          <p:cNvSpPr/>
          <p:nvPr/>
        </p:nvSpPr>
        <p:spPr>
          <a:xfrm>
            <a:off x="777240" y="3657600"/>
            <a:ext cx="502920" cy="502920"/>
          </a:xfrm>
          <a:prstGeom prst="ellipse">
            <a:avLst/>
          </a:prstGeom>
          <a:solidFill>
            <a:srgbClr val="0B2545"/>
          </a:solidFill>
          <a:ln w="25400">
            <a:solidFill>
              <a:srgbClr val="D99A0B"/>
            </a:solidFill>
            <a:prstDash val="solid"/>
          </a:ln>
        </p:spPr>
      </p:sp>
      <p:sp>
        <p:nvSpPr>
          <p:cNvPr id="20" name="Text 18"/>
          <p:cNvSpPr txBox="1"/>
          <p:nvPr/>
        </p:nvSpPr>
        <p:spPr>
          <a:xfrm>
            <a:off x="777240" y="3657600"/>
            <a:ext cx="502920" cy="502920"/>
          </a:xfrm>
          <a:prstGeom prst="rect">
            <a:avLst/>
          </a:prstGeom>
          <a:noFill/>
          <a:ln/>
        </p:spPr>
        <p:txBody>
          <a:bodyPr wrap="square" lIns="0" tIns="0" rIns="0" bIns="0" rtlCol="0" anchor="ctr"/>
          <a:lstStyle/>
          <a:p>
            <a:pPr algn="ctr" indent="0" marL="0">
              <a:buNone/>
            </a:pPr>
            <a:r>
              <a:rPr lang="en-US" sz="1400" b="1" dirty="0">
                <a:solidFill>
                  <a:srgbClr val="D99A0B"/>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417320" y="3657600"/>
            <a:ext cx="2468880" cy="502920"/>
          </a:xfrm>
          <a:prstGeom prst="rect">
            <a:avLst/>
          </a:prstGeom>
          <a:noFill/>
          <a:ln/>
        </p:spPr>
        <p:txBody>
          <a:bodyPr wrap="square" lIns="0" tIns="0" rIns="0" bIns="0" rtlCol="0" anchor="ctr"/>
          <a:lstStyle/>
          <a:p>
            <a:pPr indent="0" marL="0">
              <a:buNone/>
            </a:pPr>
            <a:r>
              <a:rPr lang="en-US" sz="1900" b="1" dirty="0">
                <a:solidFill>
                  <a:srgbClr val="0B2545"/>
                </a:solidFill>
                <a:latin typeface="Calibri" pitchFamily="34" charset="0"/>
                <a:ea typeface="Calibri" pitchFamily="34" charset="-122"/>
                <a:cs typeface="Calibri" pitchFamily="34" charset="-120"/>
              </a:rPr>
              <a:t>Carga centrada y pegada</a:t>
            </a:r>
            <a:endParaRPr lang="en-US" sz="1900" dirty="0"/>
          </a:p>
        </p:txBody>
      </p:sp>
      <p:sp>
        <p:nvSpPr>
          <p:cNvPr id="22" name="Text 20"/>
          <p:cNvSpPr txBox="1"/>
          <p:nvPr/>
        </p:nvSpPr>
        <p:spPr>
          <a:xfrm>
            <a:off x="777240" y="4297680"/>
            <a:ext cx="3063240" cy="73152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Horquillas a fondo; la carga contra el tablero.</a:t>
            </a:r>
            <a:endParaRPr lang="en-US" sz="1500" dirty="0"/>
          </a:p>
        </p:txBody>
      </p:sp>
      <p:sp>
        <p:nvSpPr>
          <p:cNvPr id="23" name="Shape 21"/>
          <p:cNvSpPr/>
          <p:nvPr/>
        </p:nvSpPr>
        <p:spPr>
          <a:xfrm>
            <a:off x="4297680" y="3429000"/>
            <a:ext cx="3474720" cy="1737360"/>
          </a:xfrm>
          <a:prstGeom prst="roundRect">
            <a:avLst>
              <a:gd name="adj" fmla="val 4211"/>
            </a:avLst>
          </a:prstGeom>
          <a:solidFill>
            <a:srgbClr val="F1F4F8"/>
          </a:solidFill>
          <a:ln w="12700">
            <a:solidFill>
              <a:srgbClr val="D3DBE5"/>
            </a:solidFill>
            <a:prstDash val="solid"/>
          </a:ln>
        </p:spPr>
      </p:sp>
      <p:sp>
        <p:nvSpPr>
          <p:cNvPr id="24" name="Shape 22"/>
          <p:cNvSpPr/>
          <p:nvPr/>
        </p:nvSpPr>
        <p:spPr>
          <a:xfrm>
            <a:off x="4526280" y="3657600"/>
            <a:ext cx="502920" cy="502920"/>
          </a:xfrm>
          <a:prstGeom prst="ellipse">
            <a:avLst/>
          </a:prstGeom>
          <a:solidFill>
            <a:srgbClr val="0B2545"/>
          </a:solidFill>
          <a:ln w="25400">
            <a:solidFill>
              <a:srgbClr val="D99A0B"/>
            </a:solidFill>
            <a:prstDash val="solid"/>
          </a:ln>
        </p:spPr>
      </p:sp>
      <p:sp>
        <p:nvSpPr>
          <p:cNvPr id="25" name="Text 23"/>
          <p:cNvSpPr txBox="1"/>
          <p:nvPr/>
        </p:nvSpPr>
        <p:spPr>
          <a:xfrm>
            <a:off x="4526280" y="3657600"/>
            <a:ext cx="502920" cy="502920"/>
          </a:xfrm>
          <a:prstGeom prst="rect">
            <a:avLst/>
          </a:prstGeom>
          <a:noFill/>
          <a:ln/>
        </p:spPr>
        <p:txBody>
          <a:bodyPr wrap="square" lIns="0" tIns="0" rIns="0" bIns="0" rtlCol="0" anchor="ctr"/>
          <a:lstStyle/>
          <a:p>
            <a:pPr algn="ctr" indent="0" marL="0">
              <a:buNone/>
            </a:pPr>
            <a:r>
              <a:rPr lang="en-US" sz="1400" b="1" dirty="0">
                <a:solidFill>
                  <a:srgbClr val="D99A0B"/>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5166360" y="3657600"/>
            <a:ext cx="2468880" cy="502920"/>
          </a:xfrm>
          <a:prstGeom prst="rect">
            <a:avLst/>
          </a:prstGeom>
          <a:noFill/>
          <a:ln/>
        </p:spPr>
        <p:txBody>
          <a:bodyPr wrap="square" lIns="0" tIns="0" rIns="0" bIns="0" rtlCol="0" anchor="ctr"/>
          <a:lstStyle/>
          <a:p>
            <a:pPr indent="0" marL="0">
              <a:buNone/>
            </a:pPr>
            <a:r>
              <a:rPr lang="en-US" sz="1900" b="1" dirty="0">
                <a:solidFill>
                  <a:srgbClr val="0B2545"/>
                </a:solidFill>
                <a:latin typeface="Calibri" pitchFamily="34" charset="0"/>
                <a:ea typeface="Calibri" pitchFamily="34" charset="-122"/>
                <a:cs typeface="Calibri" pitchFamily="34" charset="-120"/>
              </a:rPr>
              <a:t>Horquillas abajo</a:t>
            </a:r>
            <a:endParaRPr lang="en-US" sz="1900" dirty="0"/>
          </a:p>
        </p:txBody>
      </p:sp>
      <p:sp>
        <p:nvSpPr>
          <p:cNvPr id="27" name="Text 25"/>
          <p:cNvSpPr txBox="1"/>
          <p:nvPr/>
        </p:nvSpPr>
        <p:spPr>
          <a:xfrm>
            <a:off x="4526280" y="4297680"/>
            <a:ext cx="3063240" cy="73152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Al estacionar y al dejar el equipo.</a:t>
            </a:r>
            <a:endParaRPr lang="en-US" sz="1500" dirty="0"/>
          </a:p>
        </p:txBody>
      </p:sp>
      <p:sp>
        <p:nvSpPr>
          <p:cNvPr id="28" name="Shape 26"/>
          <p:cNvSpPr/>
          <p:nvPr/>
        </p:nvSpPr>
        <p:spPr>
          <a:xfrm>
            <a:off x="8046720" y="3429000"/>
            <a:ext cx="3474720" cy="1737360"/>
          </a:xfrm>
          <a:prstGeom prst="roundRect">
            <a:avLst>
              <a:gd name="adj" fmla="val 4211"/>
            </a:avLst>
          </a:prstGeom>
          <a:solidFill>
            <a:srgbClr val="F1F4F8"/>
          </a:solidFill>
          <a:ln w="12700">
            <a:solidFill>
              <a:srgbClr val="D3DBE5"/>
            </a:solidFill>
            <a:prstDash val="solid"/>
          </a:ln>
        </p:spPr>
      </p:sp>
      <p:sp>
        <p:nvSpPr>
          <p:cNvPr id="29" name="Shape 27"/>
          <p:cNvSpPr/>
          <p:nvPr/>
        </p:nvSpPr>
        <p:spPr>
          <a:xfrm>
            <a:off x="8275320" y="3657600"/>
            <a:ext cx="502920" cy="502920"/>
          </a:xfrm>
          <a:prstGeom prst="ellipse">
            <a:avLst/>
          </a:prstGeom>
          <a:solidFill>
            <a:srgbClr val="0B2545"/>
          </a:solidFill>
          <a:ln w="25400">
            <a:solidFill>
              <a:srgbClr val="D99A0B"/>
            </a:solidFill>
            <a:prstDash val="solid"/>
          </a:ln>
        </p:spPr>
      </p:sp>
      <p:sp>
        <p:nvSpPr>
          <p:cNvPr id="30" name="Text 28"/>
          <p:cNvSpPr txBox="1"/>
          <p:nvPr/>
        </p:nvSpPr>
        <p:spPr>
          <a:xfrm>
            <a:off x="8275320" y="3657600"/>
            <a:ext cx="502920" cy="502920"/>
          </a:xfrm>
          <a:prstGeom prst="rect">
            <a:avLst/>
          </a:prstGeom>
          <a:noFill/>
          <a:ln/>
        </p:spPr>
        <p:txBody>
          <a:bodyPr wrap="square" lIns="0" tIns="0" rIns="0" bIns="0" rtlCol="0" anchor="ctr"/>
          <a:lstStyle/>
          <a:p>
            <a:pPr algn="ctr" indent="0" marL="0">
              <a:buNone/>
            </a:pPr>
            <a:r>
              <a:rPr lang="en-US" sz="1400" b="1" dirty="0">
                <a:solidFill>
                  <a:srgbClr val="D99A0B"/>
                </a:solidFill>
                <a:latin typeface="Calibri" pitchFamily="34" charset="0"/>
                <a:ea typeface="Calibri" pitchFamily="34" charset="-122"/>
                <a:cs typeface="Calibri" pitchFamily="34" charset="-120"/>
              </a:rPr>
              <a:t>6</a:t>
            </a:r>
            <a:endParaRPr lang="en-US" sz="1400" dirty="0"/>
          </a:p>
        </p:txBody>
      </p:sp>
      <p:sp>
        <p:nvSpPr>
          <p:cNvPr id="31" name="Text 29"/>
          <p:cNvSpPr txBox="1"/>
          <p:nvPr/>
        </p:nvSpPr>
        <p:spPr>
          <a:xfrm>
            <a:off x="8915400" y="3657600"/>
            <a:ext cx="2468880" cy="502920"/>
          </a:xfrm>
          <a:prstGeom prst="rect">
            <a:avLst/>
          </a:prstGeom>
          <a:noFill/>
          <a:ln/>
        </p:spPr>
        <p:txBody>
          <a:bodyPr wrap="square" lIns="0" tIns="0" rIns="0" bIns="0" rtlCol="0" anchor="ctr"/>
          <a:lstStyle/>
          <a:p>
            <a:pPr indent="0" marL="0">
              <a:buNone/>
            </a:pPr>
            <a:r>
              <a:rPr lang="en-US" sz="1900" b="1" dirty="0">
                <a:solidFill>
                  <a:srgbClr val="0B2545"/>
                </a:solidFill>
                <a:latin typeface="Calibri" pitchFamily="34" charset="0"/>
                <a:ea typeface="Calibri" pitchFamily="34" charset="-122"/>
                <a:cs typeface="Calibri" pitchFamily="34" charset="-120"/>
              </a:rPr>
              <a:t>El Vigía SST manda</a:t>
            </a:r>
            <a:endParaRPr lang="en-US" sz="1900" dirty="0"/>
          </a:p>
        </p:txBody>
      </p:sp>
      <p:sp>
        <p:nvSpPr>
          <p:cNvPr id="32" name="Text 30"/>
          <p:cNvSpPr txBox="1"/>
          <p:nvPr/>
        </p:nvSpPr>
        <p:spPr>
          <a:xfrm>
            <a:off x="8275320" y="4297680"/>
            <a:ext cx="3063240" cy="73152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Puede detener cualquier maniobra con la señal de parada.</a:t>
            </a:r>
            <a:endParaRPr lang="en-US" sz="1500" dirty="0"/>
          </a:p>
        </p:txBody>
      </p:sp>
      <p:sp>
        <p:nvSpPr>
          <p:cNvPr id="33" name="Text 31"/>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300" i="1" dirty="0">
                <a:solidFill>
                  <a:srgbClr val="5A6878"/>
                </a:solidFill>
                <a:latin typeface="Calibri" pitchFamily="34" charset="0"/>
                <a:ea typeface="Calibri" pitchFamily="34" charset="-122"/>
                <a:cs typeface="Calibri" pitchFamily="34" charset="-120"/>
              </a:rPr>
              <a:t>Referencias: ISO 3691-5 (equipos de propulsión manual) · ISO 11228-2 (empujar y arrastrar cargas) · Decreto 1072 de 2015 (SG-SST)</a:t>
            </a:r>
            <a:endParaRPr lang="en-US" sz="13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Ejemplo resuelto: el pallet de baldosas del reto</a:t>
            </a:r>
            <a:endParaRPr lang="en-US" sz="3400" dirty="0"/>
          </a:p>
        </p:txBody>
      </p:sp>
      <p:sp>
        <p:nvSpPr>
          <p:cNvPr id="3" name="Shape 1"/>
          <p:cNvSpPr/>
          <p:nvPr/>
        </p:nvSpPr>
        <p:spPr>
          <a:xfrm>
            <a:off x="548640" y="1371600"/>
            <a:ext cx="4937760" cy="2194560"/>
          </a:xfrm>
          <a:prstGeom prst="roundRect">
            <a:avLst>
              <a:gd name="adj" fmla="val 3333"/>
            </a:avLst>
          </a:prstGeom>
          <a:solidFill>
            <a:srgbClr val="0B2545"/>
          </a:solidFill>
          <a:ln w="12700">
            <a:solidFill>
              <a:srgbClr val="0B2545"/>
            </a:solidFill>
            <a:prstDash val="solid"/>
          </a:ln>
        </p:spPr>
      </p:sp>
      <p:sp>
        <p:nvSpPr>
          <p:cNvPr id="4" name="Text 2"/>
          <p:cNvSpPr txBox="1"/>
          <p:nvPr/>
        </p:nvSpPr>
        <p:spPr>
          <a:xfrm>
            <a:off x="777240" y="1508760"/>
            <a:ext cx="4572000" cy="320040"/>
          </a:xfrm>
          <a:prstGeom prst="rect">
            <a:avLst/>
          </a:prstGeom>
          <a:noFill/>
          <a:ln/>
        </p:spPr>
        <p:txBody>
          <a:bodyPr wrap="square" lIns="0" tIns="0" rIns="0" bIns="0" rtlCol="0" anchor="t"/>
          <a:lstStyle/>
          <a:p>
            <a:pPr indent="0" marL="0">
              <a:buNone/>
            </a:pPr>
            <a:r>
              <a:rPr lang="en-US" sz="1300" b="1" spc="100" kern="0" dirty="0">
                <a:solidFill>
                  <a:srgbClr val="D99A0B"/>
                </a:solidFill>
                <a:latin typeface="Calibri" pitchFamily="34" charset="0"/>
                <a:ea typeface="Calibri" pitchFamily="34" charset="-122"/>
                <a:cs typeface="Calibri" pitchFamily="34" charset="-120"/>
              </a:rPr>
              <a:t>PESO DE LA UNIDAD DE CARGA</a:t>
            </a:r>
            <a:endParaRPr lang="en-US" sz="1300" dirty="0"/>
          </a:p>
        </p:txBody>
      </p:sp>
      <p:sp>
        <p:nvSpPr>
          <p:cNvPr id="5" name="Text 3"/>
          <p:cNvSpPr txBox="1"/>
          <p:nvPr/>
        </p:nvSpPr>
        <p:spPr>
          <a:xfrm>
            <a:off x="777240" y="1920240"/>
            <a:ext cx="4572000" cy="45720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40 cajas × 30 kg + 25 kg del pallet</a:t>
            </a:r>
            <a:endParaRPr lang="en-US" sz="2000" dirty="0"/>
          </a:p>
        </p:txBody>
      </p:sp>
      <p:sp>
        <p:nvSpPr>
          <p:cNvPr id="6" name="Text 4"/>
          <p:cNvSpPr txBox="1"/>
          <p:nvPr/>
        </p:nvSpPr>
        <p:spPr>
          <a:xfrm>
            <a:off x="777240" y="2423160"/>
            <a:ext cx="4572000" cy="82296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 1.225 kg</a:t>
            </a:r>
            <a:endParaRPr lang="en-US" sz="4400" dirty="0"/>
          </a:p>
        </p:txBody>
      </p:sp>
      <p:sp>
        <p:nvSpPr>
          <p:cNvPr id="7" name="Shape 5"/>
          <p:cNvSpPr/>
          <p:nvPr/>
        </p:nvSpPr>
        <p:spPr>
          <a:xfrm>
            <a:off x="5852160" y="1371600"/>
            <a:ext cx="5760720" cy="1280160"/>
          </a:xfrm>
          <a:prstGeom prst="roundRect">
            <a:avLst>
              <a:gd name="adj" fmla="val 5714"/>
            </a:avLst>
          </a:prstGeom>
          <a:solidFill>
            <a:srgbClr val="F1F4F8"/>
          </a:solidFill>
          <a:ln w="12700">
            <a:solidFill>
              <a:srgbClr val="D3DBE5"/>
            </a:solidFill>
            <a:prstDash val="solid"/>
          </a:ln>
        </p:spPr>
      </p:sp>
      <p:sp>
        <p:nvSpPr>
          <p:cNvPr id="8" name="Shape 6"/>
          <p:cNvSpPr/>
          <p:nvPr/>
        </p:nvSpPr>
        <p:spPr>
          <a:xfrm>
            <a:off x="6035040" y="1719072"/>
            <a:ext cx="566928" cy="566928"/>
          </a:xfrm>
          <a:prstGeom prst="ellipse">
            <a:avLst/>
          </a:prstGeom>
          <a:solidFill>
            <a:srgbClr val="2E7D32"/>
          </a:solidFill>
          <a:ln w="12700">
            <a:solidFill>
              <a:srgbClr val="2E7D32"/>
            </a:solidFill>
            <a:prstDash val="solid"/>
          </a:ln>
        </p:spPr>
      </p:sp>
      <p:sp>
        <p:nvSpPr>
          <p:cNvPr id="9" name="Text 7"/>
          <p:cNvSpPr txBox="1"/>
          <p:nvPr/>
        </p:nvSpPr>
        <p:spPr>
          <a:xfrm>
            <a:off x="6035040" y="171907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0" name="Text 8"/>
          <p:cNvSpPr txBox="1"/>
          <p:nvPr/>
        </p:nvSpPr>
        <p:spPr>
          <a:xfrm>
            <a:off x="6812280" y="1463040"/>
            <a:ext cx="4663440" cy="114300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Transpaleta manual · placa 2.000 kg
</a:t>
            </a:r>
            <a:pPr indent="0" marL="0">
              <a:buNone/>
            </a:pPr>
            <a:r>
              <a:rPr lang="en-US" sz="1700" b="1" dirty="0">
                <a:solidFill>
                  <a:srgbClr val="2E7D32"/>
                </a:solidFill>
                <a:latin typeface="Calibri" pitchFamily="34" charset="0"/>
                <a:ea typeface="Calibri" pitchFamily="34" charset="-122"/>
                <a:cs typeface="Calibri" pitchFamily="34" charset="-120"/>
              </a:rPr>
              <a:t>1.225 ≤ 2.000 → SÍ la mueve
</a:t>
            </a:r>
            <a:pPr indent="0" marL="0">
              <a:buNone/>
            </a:pPr>
            <a:r>
              <a:rPr lang="en-US" sz="1400" dirty="0">
                <a:solidFill>
                  <a:srgbClr val="1B2733"/>
                </a:solidFill>
                <a:latin typeface="Calibri" pitchFamily="34" charset="0"/>
                <a:ea typeface="Calibri" pitchFamily="34" charset="-122"/>
                <a:cs typeface="Calibri" pitchFamily="34" charset="-120"/>
              </a:rPr>
              <a:t>Sirve para descargar y trasladar los 40 m.</a:t>
            </a:r>
            <a:endParaRPr lang="en-US" sz="1600" dirty="0"/>
          </a:p>
        </p:txBody>
      </p:sp>
      <p:sp>
        <p:nvSpPr>
          <p:cNvPr id="11" name="Shape 9"/>
          <p:cNvSpPr/>
          <p:nvPr/>
        </p:nvSpPr>
        <p:spPr>
          <a:xfrm>
            <a:off x="5852160" y="2834640"/>
            <a:ext cx="5760720" cy="1280160"/>
          </a:xfrm>
          <a:prstGeom prst="roundRect">
            <a:avLst>
              <a:gd name="adj" fmla="val 5714"/>
            </a:avLst>
          </a:prstGeom>
          <a:solidFill>
            <a:srgbClr val="F1F4F8"/>
          </a:solidFill>
          <a:ln w="12700">
            <a:solidFill>
              <a:srgbClr val="D3DBE5"/>
            </a:solidFill>
            <a:prstDash val="solid"/>
          </a:ln>
        </p:spPr>
      </p:sp>
      <p:sp>
        <p:nvSpPr>
          <p:cNvPr id="12" name="Shape 10"/>
          <p:cNvSpPr/>
          <p:nvPr/>
        </p:nvSpPr>
        <p:spPr>
          <a:xfrm>
            <a:off x="6035040" y="3182112"/>
            <a:ext cx="566928" cy="566928"/>
          </a:xfrm>
          <a:prstGeom prst="ellipse">
            <a:avLst/>
          </a:prstGeom>
          <a:solidFill>
            <a:srgbClr val="B03A2E"/>
          </a:solidFill>
          <a:ln w="12700">
            <a:solidFill>
              <a:srgbClr val="B03A2E"/>
            </a:solidFill>
            <a:prstDash val="solid"/>
          </a:ln>
        </p:spPr>
      </p:sp>
      <p:sp>
        <p:nvSpPr>
          <p:cNvPr id="13" name="Text 11"/>
          <p:cNvSpPr txBox="1"/>
          <p:nvPr/>
        </p:nvSpPr>
        <p:spPr>
          <a:xfrm>
            <a:off x="6035040" y="318211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4" name="Text 12"/>
          <p:cNvSpPr txBox="1"/>
          <p:nvPr/>
        </p:nvSpPr>
        <p:spPr>
          <a:xfrm>
            <a:off x="6812280" y="2926080"/>
            <a:ext cx="4663440" cy="114300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Apilador manual · placa 1.000 kg
</a:t>
            </a:r>
            <a:pPr indent="0" marL="0">
              <a:buNone/>
            </a:pPr>
            <a:r>
              <a:rPr lang="en-US" sz="1700" b="1" dirty="0">
                <a:solidFill>
                  <a:srgbClr val="B03A2E"/>
                </a:solidFill>
                <a:latin typeface="Calibri" pitchFamily="34" charset="0"/>
                <a:ea typeface="Calibri" pitchFamily="34" charset="-122"/>
                <a:cs typeface="Calibri" pitchFamily="34" charset="-120"/>
              </a:rPr>
              <a:t>1.225 &gt; 1.000 → NO la eleva
</a:t>
            </a:r>
            <a:pPr indent="0" marL="0">
              <a:buNone/>
            </a:pPr>
            <a:r>
              <a:rPr lang="en-US" sz="1400" dirty="0">
                <a:solidFill>
                  <a:srgbClr val="1B2733"/>
                </a:solidFill>
                <a:latin typeface="Calibri" pitchFamily="34" charset="0"/>
                <a:ea typeface="Calibri" pitchFamily="34" charset="-122"/>
                <a:cs typeface="Calibri" pitchFamily="34" charset="-120"/>
              </a:rPr>
              <a:t>No sirve, aunque el rack fuera bajo.</a:t>
            </a:r>
            <a:endParaRPr lang="en-US" sz="1600" dirty="0"/>
          </a:p>
        </p:txBody>
      </p:sp>
      <p:sp>
        <p:nvSpPr>
          <p:cNvPr id="15" name="Shape 13"/>
          <p:cNvSpPr/>
          <p:nvPr/>
        </p:nvSpPr>
        <p:spPr>
          <a:xfrm>
            <a:off x="5852160" y="4297680"/>
            <a:ext cx="5760720" cy="1280160"/>
          </a:xfrm>
          <a:prstGeom prst="roundRect">
            <a:avLst>
              <a:gd name="adj" fmla="val 5714"/>
            </a:avLst>
          </a:prstGeom>
          <a:solidFill>
            <a:srgbClr val="F1F4F8"/>
          </a:solidFill>
          <a:ln w="12700">
            <a:solidFill>
              <a:srgbClr val="D3DBE5"/>
            </a:solidFill>
            <a:prstDash val="solid"/>
          </a:ln>
        </p:spPr>
      </p:sp>
      <p:sp>
        <p:nvSpPr>
          <p:cNvPr id="16" name="Shape 14"/>
          <p:cNvSpPr/>
          <p:nvPr/>
        </p:nvSpPr>
        <p:spPr>
          <a:xfrm>
            <a:off x="6035040" y="4645152"/>
            <a:ext cx="566928" cy="566928"/>
          </a:xfrm>
          <a:prstGeom prst="ellipse">
            <a:avLst/>
          </a:prstGeom>
          <a:solidFill>
            <a:srgbClr val="B03A2E"/>
          </a:solidFill>
          <a:ln w="12700">
            <a:solidFill>
              <a:srgbClr val="B03A2E"/>
            </a:solidFill>
            <a:prstDash val="solid"/>
          </a:ln>
        </p:spPr>
      </p:sp>
      <p:sp>
        <p:nvSpPr>
          <p:cNvPr id="17" name="Text 15"/>
          <p:cNvSpPr txBox="1"/>
          <p:nvPr/>
        </p:nvSpPr>
        <p:spPr>
          <a:xfrm>
            <a:off x="6035040" y="464515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8" name="Text 16"/>
          <p:cNvSpPr txBox="1"/>
          <p:nvPr/>
        </p:nvSpPr>
        <p:spPr>
          <a:xfrm>
            <a:off x="6812280" y="4389120"/>
            <a:ext cx="4663440" cy="114300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Rack a 4 m
</a:t>
            </a:r>
            <a:pPr indent="0" marL="0">
              <a:buNone/>
            </a:pPr>
            <a:r>
              <a:rPr lang="en-US" sz="1700" b="1" dirty="0">
                <a:solidFill>
                  <a:srgbClr val="B03A2E"/>
                </a:solidFill>
                <a:latin typeface="Calibri" pitchFamily="34" charset="0"/>
                <a:ea typeface="Calibri" pitchFamily="34" charset="-122"/>
                <a:cs typeface="Calibri" pitchFamily="34" charset="-120"/>
              </a:rPr>
              <a:t>Ni transpaleta ni apilador manual
</a:t>
            </a:r>
            <a:pPr indent="0" marL="0">
              <a:buNone/>
            </a:pPr>
            <a:r>
              <a:rPr lang="en-US" sz="1400" dirty="0">
                <a:solidFill>
                  <a:srgbClr val="1B2733"/>
                </a:solidFill>
                <a:latin typeface="Calibri" pitchFamily="34" charset="0"/>
                <a:ea typeface="Calibri" pitchFamily="34" charset="-122"/>
                <a:cs typeface="Calibri" pitchFamily="34" charset="-120"/>
              </a:rPr>
              <a:t>Se necesita montacargas: lo vemos en la S3.</a:t>
            </a:r>
            <a:endParaRPr lang="en-US" sz="1600" dirty="0"/>
          </a:p>
        </p:txBody>
      </p:sp>
      <p:sp>
        <p:nvSpPr>
          <p:cNvPr id="19" name="Shape 17"/>
          <p:cNvSpPr/>
          <p:nvPr/>
        </p:nvSpPr>
        <p:spPr>
          <a:xfrm>
            <a:off x="548640" y="3840480"/>
            <a:ext cx="4937760" cy="2286000"/>
          </a:xfrm>
          <a:prstGeom prst="roundRect">
            <a:avLst>
              <a:gd name="adj" fmla="val 3200"/>
            </a:avLst>
          </a:prstGeom>
          <a:solidFill>
            <a:srgbClr val="F1F4F8"/>
          </a:solidFill>
          <a:ln w="12700">
            <a:solidFill>
              <a:srgbClr val="D3DBE5"/>
            </a:solidFill>
            <a:prstDash val="solid"/>
          </a:ln>
        </p:spPr>
      </p:sp>
      <p:sp>
        <p:nvSpPr>
          <p:cNvPr id="20" name="Text 18"/>
          <p:cNvSpPr txBox="1"/>
          <p:nvPr/>
        </p:nvSpPr>
        <p:spPr>
          <a:xfrm>
            <a:off x="777240" y="4023360"/>
            <a:ext cx="4526280" cy="118872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En el laboratorio harán lo mismo con su producto:
</a:t>
            </a:r>
            <a:pPr indent="0" marL="0">
              <a:buNone/>
            </a:pPr>
            <a:r>
              <a:rPr lang="en-US" sz="1600" dirty="0">
                <a:solidFill>
                  <a:srgbClr val="1B2733"/>
                </a:solidFill>
                <a:latin typeface="Calibri" pitchFamily="34" charset="0"/>
                <a:ea typeface="Calibri" pitchFamily="34" charset="-122"/>
                <a:cs typeface="Calibri" pitchFamily="34" charset="-120"/>
              </a:rPr>
              <a:t>unidades por pallet × peso por unidad + peso del pallet, y lo comparan con la placa real de cada equipo.</a:t>
            </a:r>
            <a:endParaRPr lang="en-US" sz="1600" dirty="0"/>
          </a:p>
        </p:txBody>
      </p:sp>
      <p:sp>
        <p:nvSpPr>
          <p:cNvPr id="21" name="Text 19"/>
          <p:cNvSpPr txBox="1"/>
          <p:nvPr/>
        </p:nvSpPr>
        <p:spPr>
          <a:xfrm>
            <a:off x="777240" y="5303520"/>
            <a:ext cx="4526280" cy="640080"/>
          </a:xfrm>
          <a:prstGeom prst="rect">
            <a:avLst/>
          </a:prstGeom>
          <a:noFill/>
          <a:ln/>
        </p:spPr>
        <p:txBody>
          <a:bodyPr wrap="square" lIns="0" tIns="0" rIns="0" bIns="0" rtlCol="0" anchor="t"/>
          <a:lstStyle/>
          <a:p>
            <a:pPr indent="0" marL="0">
              <a:buNone/>
            </a:pPr>
            <a:r>
              <a:rPr lang="en-US" sz="1300" i="1" dirty="0">
                <a:solidFill>
                  <a:srgbClr val="5A6878"/>
                </a:solidFill>
                <a:latin typeface="Calibri" pitchFamily="34" charset="0"/>
                <a:ea typeface="Calibri" pitchFamily="34" charset="-122"/>
                <a:cs typeface="Calibri" pitchFamily="34" charset="-120"/>
              </a:rPr>
              <a:t>Datos del ejemplo: 40 cajas de 30 kg; placas de ejemplo. Use siempre la placa del equipo real.</a:t>
            </a:r>
            <a:endParaRPr lang="en-US" sz="13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El ejercicio de hoy: cada equipo opera su pedido</a:t>
            </a:r>
            <a:endParaRPr lang="en-US" sz="3400" dirty="0"/>
          </a:p>
        </p:txBody>
      </p:sp>
      <p:sp>
        <p:nvSpPr>
          <p:cNvPr id="3" name="Text 1"/>
          <p:cNvSpPr txBox="1"/>
          <p:nvPr/>
        </p:nvSpPr>
        <p:spPr>
          <a:xfrm>
            <a:off x="548640" y="1188720"/>
            <a:ext cx="11064240" cy="411480"/>
          </a:xfrm>
          <a:prstGeom prst="rect">
            <a:avLst/>
          </a:prstGeom>
          <a:noFill/>
          <a:ln/>
        </p:spPr>
        <p:txBody>
          <a:bodyPr wrap="square" lIns="0" tIns="0" rIns="0" bIns="0" rtlCol="0" anchor="t"/>
          <a:lstStyle/>
          <a:p>
            <a:pPr indent="0" marL="0">
              <a:buNone/>
            </a:pPr>
            <a:r>
              <a:rPr lang="en-US" sz="1600" dirty="0">
                <a:solidFill>
                  <a:srgbClr val="5A6878"/>
                </a:solidFill>
                <a:latin typeface="Calibri" pitchFamily="34" charset="0"/>
                <a:ea typeface="Calibri" pitchFamily="34" charset="-122"/>
                <a:cs typeface="Calibri" pitchFamily="34" charset="-120"/>
              </a:rPr>
              <a:t>Usen el producto que escogieron en la S0. Calculen la unidad de carga y muevan el pedido por las 4 estaciones.</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606040"/>
                <a:gridCol w="1325880"/>
                <a:gridCol w="1463040"/>
                <a:gridCol w="1051560"/>
                <a:gridCol w="1783080"/>
                <a:gridCol w="1188720"/>
                <a:gridCol w="16459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Producto</a:t>
                      </a:r>
                      <a:endParaRPr lang="en-US" sz="14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Pedido</a:t>
                      </a:r>
                      <a:endParaRPr lang="en-US" sz="14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Unidad (mm)</a:t>
                      </a:r>
                      <a:endParaRPr lang="en-US" sz="14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Peso unidad</a:t>
                      </a:r>
                      <a:endParaRPr lang="en-US" sz="14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Pallet</a:t>
                      </a:r>
                      <a:endParaRPr lang="en-US" sz="14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Por capa × capas</a:t>
                      </a:r>
                      <a:endParaRPr lang="en-US" sz="14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Ruta</a:t>
                      </a:r>
                      <a:endParaRPr lang="en-US" sz="14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0B2545"/>
                    </a:solidFill>
                  </a:tcPr>
                </a:tc>
              </a:tr>
              <a:tr h="457200">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Café verde (sacos 70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320 sacos</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600×400×250 mm</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70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ISO 1200 × 1000</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5 × 3</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Santa Marta → Hamburgo</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r>
              <a:tr h="457200">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Banano (cajas 18,14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1.000 cajas</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500×400×240 mm</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18,14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ISO 1200 × 1000</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6 × 8</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Santa Marta → Amberes</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Aguacate Hass (cajas 4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3.000 cajas</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400×300×90 mm</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4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Europalet 1200 × 800</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8 × 20</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Cartagena → Róterdam</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r>
              <a:tr h="457200">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Baldosas cerámicas (cajas 30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820 cajas</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600×400×100 mm</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30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ISO 1200 × 1000</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5 × 8</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Barranquilla → Miami</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Aceite de palma (tambores 200 L)</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90 tambores</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585×585×880 mm</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196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Pallet 1200 × 1200</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4 × 1</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Barranquilla → Róterdam</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r>
              <a:tr h="457200">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Confitería (cajas)</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1.100 cajas</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400×300×250 mm</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8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Europalet 1200 × 800</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8 × 6</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Cartagena → Colón</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2545"/>
                          </a:solidFill>
                          <a:latin typeface="Calibri" pitchFamily="34" charset="0"/>
                          <a:ea typeface="Calibri" pitchFamily="34" charset="-122"/>
                          <a:cs typeface="Calibri" pitchFamily="34" charset="-120"/>
                        </a:rPr>
                        <a:t>Sal de Manaure (sacos 50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450 sacos</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600×400×150 mm</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50 kg</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ISO 1200 × 1000</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5 × 4</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c>
                  <a:txBody>
                    <a:bodyPr/>
                    <a:lstStyle/>
                    <a:p>
                      <a:pPr indent="0" marL="0">
                        <a:buNone/>
                      </a:pPr>
                      <a:r>
                        <a:rPr lang="en-US" sz="1300" dirty="0">
                          <a:solidFill>
                            <a:srgbClr val="1B2733"/>
                          </a:solidFill>
                          <a:latin typeface="Calibri" pitchFamily="34" charset="0"/>
                          <a:ea typeface="Calibri" pitchFamily="34" charset="-122"/>
                          <a:cs typeface="Calibri" pitchFamily="34" charset="-120"/>
                        </a:rPr>
                        <a:t>Puerto Brisa → Kingston</a:t>
                      </a:r>
                      <a:endParaRPr lang="en-US" sz="1300" dirty="0">
                        <a:latin typeface="Calibri" charset="0"/>
                        <a:ea typeface="Calibri" charset="0"/>
                        <a:cs typeface="Calibri" charset="0"/>
                      </a:endParaRPr>
                    </a:p>
                  </a:txBody>
                  <a:tcPr marL="91440" marR="91440" marT="45720" marB="45720" anchor="ctr">
                    <a:lnL w="12700" cap="flat" cmpd="sng" algn="ctr">
                      <a:solidFill>
                        <a:srgbClr val="D3DBE5"/>
                      </a:solidFill>
                      <a:prstDash val="solid"/>
                      <a:round/>
                      <a:headEnd type="none" w="med" len="med"/>
                      <a:tailEnd type="none" w="med" len="med"/>
                    </a:lnL>
                    <a:lnR w="12700" cap="flat" cmpd="sng" algn="ctr">
                      <a:solidFill>
                        <a:srgbClr val="D3DBE5"/>
                      </a:solidFill>
                      <a:prstDash val="solid"/>
                      <a:round/>
                      <a:headEnd type="none" w="med" len="med"/>
                      <a:tailEnd type="none" w="med" len="med"/>
                    </a:lnR>
                    <a:lnT w="12700" cap="flat" cmpd="sng" algn="ctr">
                      <a:solidFill>
                        <a:srgbClr val="D3DBE5"/>
                      </a:solidFill>
                      <a:prstDash val="solid"/>
                      <a:round/>
                      <a:headEnd type="none" w="med" len="med"/>
                      <a:tailEnd type="none" w="med" len="med"/>
                    </a:lnT>
                    <a:lnB w="12700" cap="flat" cmpd="sng" algn="ctr">
                      <a:solidFill>
                        <a:srgbClr val="D3DBE5"/>
                      </a:solidFill>
                      <a:prstDash val="solid"/>
                      <a:round/>
                      <a:headEnd type="none" w="med" len="med"/>
                      <a:tailEnd type="none" w="med" len="med"/>
                    </a:lnB>
                    <a:solidFill>
                      <a:srgbClr val="F1F4F8"/>
                    </a:solidFill>
                  </a:tcPr>
                </a:tc>
              </a:tr>
            </a:tbl>
          </a:graphicData>
        </a:graphic>
      </p:graphicFrame>
      <p:sp>
        <p:nvSpPr>
          <p:cNvPr id="5" name="Text 2"/>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300" i="1" dirty="0">
                <a:solidFill>
                  <a:srgbClr val="5A6878"/>
                </a:solidFill>
                <a:latin typeface="Calibri" pitchFamily="34" charset="0"/>
                <a:ea typeface="Calibri" pitchFamily="34" charset="-122"/>
                <a:cs typeface="Calibri" pitchFamily="34" charset="-120"/>
              </a:rPr>
              <a:t>Pallet vacío: 25 kg (1200 × 1200: 30 kg), 144 mm de alto. Los datos completos y la condición especial de cada producto aparecen en la hoja del celular.</a:t>
            </a:r>
            <a:endParaRPr lang="en-US" sz="13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rgbClr val="0B2545"/>
                </a:solidFill>
                <a:latin typeface="Calibri" pitchFamily="34" charset="0"/>
                <a:ea typeface="Calibri" pitchFamily="34" charset="-122"/>
                <a:cs typeface="Calibri" pitchFamily="34" charset="-120"/>
              </a:rPr>
              <a:t>Laboratorio: 4 estaciones, 10 minutos cada una</a:t>
            </a:r>
            <a:endParaRPr lang="en-US" sz="3400" dirty="0"/>
          </a:p>
        </p:txBody>
      </p:sp>
      <p:sp>
        <p:nvSpPr>
          <p:cNvPr id="3" name="Shape 1"/>
          <p:cNvSpPr/>
          <p:nvPr/>
        </p:nvSpPr>
        <p:spPr>
          <a:xfrm>
            <a:off x="548640" y="1371600"/>
            <a:ext cx="7680960" cy="960120"/>
          </a:xfrm>
          <a:prstGeom prst="roundRect">
            <a:avLst>
              <a:gd name="adj" fmla="val 7619"/>
            </a:avLst>
          </a:prstGeom>
          <a:solidFill>
            <a:srgbClr val="F1F4F8"/>
          </a:solidFill>
          <a:ln w="12700">
            <a:solidFill>
              <a:srgbClr val="D3DBE5"/>
            </a:solidFill>
            <a:prstDash val="solid"/>
          </a:ln>
        </p:spPr>
      </p:sp>
      <p:sp>
        <p:nvSpPr>
          <p:cNvPr id="4" name="Shape 2"/>
          <p:cNvSpPr/>
          <p:nvPr/>
        </p:nvSpPr>
        <p:spPr>
          <a:xfrm>
            <a:off x="731520" y="1572768"/>
            <a:ext cx="548640" cy="548640"/>
          </a:xfrm>
          <a:prstGeom prst="ellipse">
            <a:avLst/>
          </a:prstGeom>
          <a:solidFill>
            <a:srgbClr val="0B2545"/>
          </a:solidFill>
          <a:ln w="25400">
            <a:solidFill>
              <a:srgbClr val="D99A0B"/>
            </a:solidFill>
            <a:prstDash val="solid"/>
          </a:ln>
        </p:spPr>
      </p:sp>
      <p:sp>
        <p:nvSpPr>
          <p:cNvPr id="5" name="Text 3"/>
          <p:cNvSpPr txBox="1"/>
          <p:nvPr/>
        </p:nvSpPr>
        <p:spPr>
          <a:xfrm>
            <a:off x="731520" y="1572768"/>
            <a:ext cx="548640" cy="548640"/>
          </a:xfrm>
          <a:prstGeom prst="rect">
            <a:avLst/>
          </a:prstGeom>
          <a:noFill/>
          <a:ln/>
        </p:spPr>
        <p:txBody>
          <a:bodyPr wrap="square" lIns="0" tIns="0" rIns="0" bIns="0" rtlCol="0" anchor="ctr"/>
          <a:lstStyle/>
          <a:p>
            <a:pPr algn="ctr" indent="0" marL="0">
              <a:buNone/>
            </a:pPr>
            <a:r>
              <a:rPr lang="en-US" sz="2000" b="1" dirty="0">
                <a:solidFill>
                  <a:srgbClr val="D99A0B"/>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463040" y="1444752"/>
            <a:ext cx="6629400" cy="8229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Recepción · </a:t>
            </a:r>
            <a:pPr indent="0" marL="0">
              <a:buNone/>
            </a:pPr>
            <a:r>
              <a:rPr lang="en-US" sz="1700" b="1" dirty="0">
                <a:solidFill>
                  <a:srgbClr val="D99A0B"/>
                </a:solidFill>
                <a:latin typeface="Calibri" pitchFamily="34" charset="0"/>
                <a:ea typeface="Calibri" pitchFamily="34" charset="-122"/>
                <a:cs typeface="Calibri" pitchFamily="34" charset="-120"/>
              </a:rPr>
              <a:t>Transpaleta manual
</a:t>
            </a:r>
            <a:pPr indent="0" marL="0">
              <a:buNone/>
            </a:pPr>
            <a:r>
              <a:rPr lang="en-US" sz="1400" dirty="0">
                <a:solidFill>
                  <a:srgbClr val="1B2733"/>
                </a:solidFill>
                <a:latin typeface="Calibri" pitchFamily="34" charset="0"/>
                <a:ea typeface="Calibri" pitchFamily="34" charset="-122"/>
                <a:cs typeface="Calibri" pitchFamily="34" charset="-120"/>
              </a:rPr>
              <a:t>Inspección, placa, por cuántos lados entra, circuito con giro y tiempo.</a:t>
            </a:r>
            <a:endParaRPr lang="en-US" sz="1700" dirty="0"/>
          </a:p>
        </p:txBody>
      </p:sp>
      <p:sp>
        <p:nvSpPr>
          <p:cNvPr id="7" name="Shape 5"/>
          <p:cNvSpPr/>
          <p:nvPr/>
        </p:nvSpPr>
        <p:spPr>
          <a:xfrm>
            <a:off x="548640" y="2450592"/>
            <a:ext cx="7680960" cy="960120"/>
          </a:xfrm>
          <a:prstGeom prst="roundRect">
            <a:avLst>
              <a:gd name="adj" fmla="val 7619"/>
            </a:avLst>
          </a:prstGeom>
          <a:solidFill>
            <a:srgbClr val="FFFFFF"/>
          </a:solidFill>
          <a:ln w="12700">
            <a:solidFill>
              <a:srgbClr val="D3DBE5"/>
            </a:solidFill>
            <a:prstDash val="solid"/>
          </a:ln>
        </p:spPr>
      </p:sp>
      <p:sp>
        <p:nvSpPr>
          <p:cNvPr id="8" name="Shape 6"/>
          <p:cNvSpPr/>
          <p:nvPr/>
        </p:nvSpPr>
        <p:spPr>
          <a:xfrm>
            <a:off x="731520" y="2651760"/>
            <a:ext cx="548640" cy="548640"/>
          </a:xfrm>
          <a:prstGeom prst="ellipse">
            <a:avLst/>
          </a:prstGeom>
          <a:solidFill>
            <a:srgbClr val="0B2545"/>
          </a:solidFill>
          <a:ln w="25400">
            <a:solidFill>
              <a:srgbClr val="D99A0B"/>
            </a:solidFill>
            <a:prstDash val="solid"/>
          </a:ln>
        </p:spPr>
      </p:sp>
      <p:sp>
        <p:nvSpPr>
          <p:cNvPr id="9" name="Text 7"/>
          <p:cNvSpPr txBox="1"/>
          <p:nvPr/>
        </p:nvSpPr>
        <p:spPr>
          <a:xfrm>
            <a:off x="731520" y="2651760"/>
            <a:ext cx="548640" cy="548640"/>
          </a:xfrm>
          <a:prstGeom prst="rect">
            <a:avLst/>
          </a:prstGeom>
          <a:noFill/>
          <a:ln/>
        </p:spPr>
        <p:txBody>
          <a:bodyPr wrap="square" lIns="0" tIns="0" rIns="0" bIns="0" rtlCol="0" anchor="ctr"/>
          <a:lstStyle/>
          <a:p>
            <a:pPr algn="ctr" indent="0" marL="0">
              <a:buNone/>
            </a:pPr>
            <a:r>
              <a:rPr lang="en-US" sz="2000" b="1" dirty="0">
                <a:solidFill>
                  <a:srgbClr val="D99A0B"/>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1463040" y="2523744"/>
            <a:ext cx="6629400" cy="8229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Almacenamiento · </a:t>
            </a:r>
            <a:pPr indent="0" marL="0">
              <a:buNone/>
            </a:pPr>
            <a:r>
              <a:rPr lang="en-US" sz="1700" b="1" dirty="0">
                <a:solidFill>
                  <a:srgbClr val="D99A0B"/>
                </a:solidFill>
                <a:latin typeface="Calibri" pitchFamily="34" charset="0"/>
                <a:ea typeface="Calibri" pitchFamily="34" charset="-122"/>
                <a:cs typeface="Calibri" pitchFamily="34" charset="-120"/>
              </a:rPr>
              <a:t>Apilador manual
</a:t>
            </a:r>
            <a:pPr indent="0" marL="0">
              <a:buNone/>
            </a:pPr>
            <a:r>
              <a:rPr lang="en-US" sz="1400" dirty="0">
                <a:solidFill>
                  <a:srgbClr val="1B2733"/>
                </a:solidFill>
                <a:latin typeface="Calibri" pitchFamily="34" charset="0"/>
                <a:ea typeface="Calibri" pitchFamily="34" charset="-122"/>
                <a:cs typeface="Calibri" pitchFamily="34" charset="-120"/>
              </a:rPr>
              <a:t>Inspección, placa (capacidad, centro de carga, altura), elevar un pallet.</a:t>
            </a:r>
            <a:endParaRPr lang="en-US" sz="1700" dirty="0"/>
          </a:p>
        </p:txBody>
      </p:sp>
      <p:sp>
        <p:nvSpPr>
          <p:cNvPr id="11" name="Shape 9"/>
          <p:cNvSpPr/>
          <p:nvPr/>
        </p:nvSpPr>
        <p:spPr>
          <a:xfrm>
            <a:off x="548640" y="3529584"/>
            <a:ext cx="7680960" cy="960120"/>
          </a:xfrm>
          <a:prstGeom prst="roundRect">
            <a:avLst>
              <a:gd name="adj" fmla="val 7619"/>
            </a:avLst>
          </a:prstGeom>
          <a:solidFill>
            <a:srgbClr val="F1F4F8"/>
          </a:solidFill>
          <a:ln w="12700">
            <a:solidFill>
              <a:srgbClr val="D3DBE5"/>
            </a:solidFill>
            <a:prstDash val="solid"/>
          </a:ln>
        </p:spPr>
      </p:sp>
      <p:sp>
        <p:nvSpPr>
          <p:cNvPr id="12" name="Shape 10"/>
          <p:cNvSpPr/>
          <p:nvPr/>
        </p:nvSpPr>
        <p:spPr>
          <a:xfrm>
            <a:off x="731520" y="3730752"/>
            <a:ext cx="548640" cy="548640"/>
          </a:xfrm>
          <a:prstGeom prst="ellipse">
            <a:avLst/>
          </a:prstGeom>
          <a:solidFill>
            <a:srgbClr val="0B2545"/>
          </a:solidFill>
          <a:ln w="25400">
            <a:solidFill>
              <a:srgbClr val="D99A0B"/>
            </a:solidFill>
            <a:prstDash val="solid"/>
          </a:ln>
        </p:spPr>
      </p:sp>
      <p:sp>
        <p:nvSpPr>
          <p:cNvPr id="13" name="Text 11"/>
          <p:cNvSpPr txBox="1"/>
          <p:nvPr/>
        </p:nvSpPr>
        <p:spPr>
          <a:xfrm>
            <a:off x="731520" y="3730752"/>
            <a:ext cx="548640" cy="548640"/>
          </a:xfrm>
          <a:prstGeom prst="rect">
            <a:avLst/>
          </a:prstGeom>
          <a:noFill/>
          <a:ln/>
        </p:spPr>
        <p:txBody>
          <a:bodyPr wrap="square" lIns="0" tIns="0" rIns="0" bIns="0" rtlCol="0" anchor="ctr"/>
          <a:lstStyle/>
          <a:p>
            <a:pPr algn="ctr" indent="0" marL="0">
              <a:buNone/>
            </a:pPr>
            <a:r>
              <a:rPr lang="en-US" sz="2000" b="1" dirty="0">
                <a:solidFill>
                  <a:srgbClr val="D99A0B"/>
                </a:solidFill>
                <a:latin typeface="Calibri" pitchFamily="34" charset="0"/>
                <a:ea typeface="Calibri" pitchFamily="34" charset="-122"/>
                <a:cs typeface="Calibri" pitchFamily="34" charset="-120"/>
              </a:rPr>
              <a:t>3</a:t>
            </a:r>
            <a:endParaRPr lang="en-US" sz="2000" dirty="0"/>
          </a:p>
        </p:txBody>
      </p:sp>
      <p:sp>
        <p:nvSpPr>
          <p:cNvPr id="14" name="Text 12"/>
          <p:cNvSpPr txBox="1"/>
          <p:nvPr/>
        </p:nvSpPr>
        <p:spPr>
          <a:xfrm>
            <a:off x="1463040" y="3602736"/>
            <a:ext cx="6629400" cy="8229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Izaje · </a:t>
            </a:r>
            <a:pPr indent="0" marL="0">
              <a:buNone/>
            </a:pPr>
            <a:r>
              <a:rPr lang="en-US" sz="1700" b="1" dirty="0">
                <a:solidFill>
                  <a:srgbClr val="D99A0B"/>
                </a:solidFill>
                <a:latin typeface="Calibri" pitchFamily="34" charset="0"/>
                <a:ea typeface="Calibri" pitchFamily="34" charset="-122"/>
                <a:cs typeface="Calibri" pitchFamily="34" charset="-120"/>
              </a:rPr>
              <a:t>Grúa pórtico
</a:t>
            </a:r>
            <a:pPr indent="0" marL="0">
              <a:buNone/>
            </a:pPr>
            <a:r>
              <a:rPr lang="en-US" sz="1400" dirty="0">
                <a:solidFill>
                  <a:srgbClr val="1B2733"/>
                </a:solidFill>
                <a:latin typeface="Calibri" pitchFamily="34" charset="0"/>
                <a:ea typeface="Calibri" pitchFamily="34" charset="-122"/>
                <a:cs typeface="Calibri" pitchFamily="34" charset="-120"/>
              </a:rPr>
              <a:t>Con el docente: eslinga y su etiqueta, señales de mano, izar 30 cm y bajar.</a:t>
            </a:r>
            <a:endParaRPr lang="en-US" sz="1700" dirty="0"/>
          </a:p>
        </p:txBody>
      </p:sp>
      <p:sp>
        <p:nvSpPr>
          <p:cNvPr id="15" name="Shape 13"/>
          <p:cNvSpPr/>
          <p:nvPr/>
        </p:nvSpPr>
        <p:spPr>
          <a:xfrm>
            <a:off x="548640" y="4608576"/>
            <a:ext cx="7680960" cy="960120"/>
          </a:xfrm>
          <a:prstGeom prst="roundRect">
            <a:avLst>
              <a:gd name="adj" fmla="val 7619"/>
            </a:avLst>
          </a:prstGeom>
          <a:solidFill>
            <a:srgbClr val="FFFFFF"/>
          </a:solidFill>
          <a:ln w="12700">
            <a:solidFill>
              <a:srgbClr val="D3DBE5"/>
            </a:solidFill>
            <a:prstDash val="solid"/>
          </a:ln>
        </p:spPr>
      </p:sp>
      <p:sp>
        <p:nvSpPr>
          <p:cNvPr id="16" name="Shape 14"/>
          <p:cNvSpPr/>
          <p:nvPr/>
        </p:nvSpPr>
        <p:spPr>
          <a:xfrm>
            <a:off x="731520" y="4809744"/>
            <a:ext cx="548640" cy="548640"/>
          </a:xfrm>
          <a:prstGeom prst="ellipse">
            <a:avLst/>
          </a:prstGeom>
          <a:solidFill>
            <a:srgbClr val="0B2545"/>
          </a:solidFill>
          <a:ln w="25400">
            <a:solidFill>
              <a:srgbClr val="D99A0B"/>
            </a:solidFill>
            <a:prstDash val="solid"/>
          </a:ln>
        </p:spPr>
      </p:sp>
      <p:sp>
        <p:nvSpPr>
          <p:cNvPr id="17" name="Text 15"/>
          <p:cNvSpPr txBox="1"/>
          <p:nvPr/>
        </p:nvSpPr>
        <p:spPr>
          <a:xfrm>
            <a:off x="731520" y="4809744"/>
            <a:ext cx="548640" cy="548640"/>
          </a:xfrm>
          <a:prstGeom prst="rect">
            <a:avLst/>
          </a:prstGeom>
          <a:noFill/>
          <a:ln/>
        </p:spPr>
        <p:txBody>
          <a:bodyPr wrap="square" lIns="0" tIns="0" rIns="0" bIns="0" rtlCol="0" anchor="ctr"/>
          <a:lstStyle/>
          <a:p>
            <a:pPr algn="ctr" indent="0" marL="0">
              <a:buNone/>
            </a:pPr>
            <a:r>
              <a:rPr lang="en-US" sz="2000" b="1" dirty="0">
                <a:solidFill>
                  <a:srgbClr val="D99A0B"/>
                </a:solidFill>
                <a:latin typeface="Calibri" pitchFamily="34" charset="0"/>
                <a:ea typeface="Calibri" pitchFamily="34" charset="-122"/>
                <a:cs typeface="Calibri" pitchFamily="34" charset="-120"/>
              </a:rPr>
              <a:t>4</a:t>
            </a:r>
            <a:endParaRPr lang="en-US" sz="2000" dirty="0"/>
          </a:p>
        </p:txBody>
      </p:sp>
      <p:sp>
        <p:nvSpPr>
          <p:cNvPr id="18" name="Text 16"/>
          <p:cNvSpPr txBox="1"/>
          <p:nvPr/>
        </p:nvSpPr>
        <p:spPr>
          <a:xfrm>
            <a:off x="1463040" y="4681728"/>
            <a:ext cx="6629400" cy="8229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Mesa técnica · </a:t>
            </a:r>
            <a:pPr indent="0" marL="0">
              <a:buNone/>
            </a:pPr>
            <a:r>
              <a:rPr lang="en-US" sz="1700" b="1" dirty="0">
                <a:solidFill>
                  <a:srgbClr val="D99A0B"/>
                </a:solidFill>
                <a:latin typeface="Calibri" pitchFamily="34" charset="0"/>
                <a:ea typeface="Calibri" pitchFamily="34" charset="-122"/>
                <a:cs typeface="Calibri" pitchFamily="34" charset="-120"/>
              </a:rPr>
              <a:t>Pallets
</a:t>
            </a:r>
            <a:pPr indent="0" marL="0">
              <a:buNone/>
            </a:pPr>
            <a:r>
              <a:rPr lang="en-US" sz="1400" dirty="0">
                <a:solidFill>
                  <a:srgbClr val="1B2733"/>
                </a:solidFill>
                <a:latin typeface="Calibri" pitchFamily="34" charset="0"/>
                <a:ea typeface="Calibri" pitchFamily="34" charset="-122"/>
                <a:cs typeface="Calibri" pitchFamily="34" charset="-120"/>
              </a:rPr>
              <a:t>Medir madera y plástico, leer NIMF-15 y llenar la matriz de su producto.</a:t>
            </a:r>
            <a:endParaRPr lang="en-US" sz="1700" dirty="0"/>
          </a:p>
        </p:txBody>
      </p:sp>
      <p:sp>
        <p:nvSpPr>
          <p:cNvPr id="19" name="Text 17"/>
          <p:cNvSpPr txBox="1"/>
          <p:nvPr/>
        </p:nvSpPr>
        <p:spPr>
          <a:xfrm>
            <a:off x="548640" y="5715000"/>
            <a:ext cx="7680960" cy="502920"/>
          </a:xfrm>
          <a:prstGeom prst="rect">
            <a:avLst/>
          </a:prstGeom>
          <a:noFill/>
          <a:ln/>
        </p:spPr>
        <p:txBody>
          <a:bodyPr wrap="square" lIns="0" tIns="0" rIns="0" bIns="0" rtlCol="0" anchor="t"/>
          <a:lstStyle/>
          <a:p>
            <a:pPr indent="0" marL="0">
              <a:buNone/>
            </a:pPr>
            <a:r>
              <a:rPr lang="en-US" sz="1400" dirty="0">
                <a:solidFill>
                  <a:srgbClr val="5A6878"/>
                </a:solidFill>
                <a:latin typeface="Calibri" pitchFamily="34" charset="0"/>
                <a:ea typeface="Calibri" pitchFamily="34" charset="-122"/>
                <a:cs typeface="Calibri" pitchFamily="34" charset="-120"/>
              </a:rPr>
              <a:t>Rotación: 2 equipos por estación. Roles: Jefe de Bodega dirige, Calculista registra, Operador y Vigía SST opera y vigila.</a:t>
            </a:r>
            <a:endParaRPr lang="en-US" sz="1400" dirty="0"/>
          </a:p>
        </p:txBody>
      </p:sp>
      <p:pic>
        <p:nvPicPr>
          <p:cNvPr id="20" name="Image 0" descr="qr.png">    </p:cNvPr>
          <p:cNvPicPr>
            <a:picLocks noChangeAspect="1"/>
          </p:cNvPicPr>
          <p:nvPr/>
        </p:nvPicPr>
        <p:blipFill>
          <a:blip r:embed="rId1"/>
          <a:stretch>
            <a:fillRect/>
          </a:stretch>
        </p:blipFill>
        <p:spPr>
          <a:xfrm>
            <a:off x="8732520" y="1371600"/>
            <a:ext cx="2743200" cy="2743200"/>
          </a:xfrm>
          <a:prstGeom prst="rect">
            <a:avLst/>
          </a:prstGeom>
        </p:spPr>
      </p:pic>
      <p:sp>
        <p:nvSpPr>
          <p:cNvPr id="21" name="Text 18"/>
          <p:cNvSpPr txBox="1"/>
          <p:nvPr/>
        </p:nvSpPr>
        <p:spPr>
          <a:xfrm>
            <a:off x="8503920" y="4206240"/>
            <a:ext cx="3200400" cy="365760"/>
          </a:xfrm>
          <a:prstGeom prst="rect">
            <a:avLst/>
          </a:prstGeom>
          <a:noFill/>
          <a:ln/>
        </p:spPr>
        <p:txBody>
          <a:bodyPr wrap="square" lIns="0" tIns="0" rIns="0" bIns="0" rtlCol="0" anchor="t"/>
          <a:lstStyle/>
          <a:p>
            <a:pPr algn="ctr" indent="0" marL="0">
              <a:buNone/>
            </a:pPr>
            <a:r>
              <a:rPr lang="en-US" sz="1600" b="1" dirty="0">
                <a:solidFill>
                  <a:srgbClr val="0B2545"/>
                </a:solidFill>
                <a:latin typeface="Calibri" pitchFamily="34" charset="0"/>
                <a:ea typeface="Calibri" pitchFamily="34" charset="-122"/>
                <a:cs typeface="Calibri" pitchFamily="34" charset="-120"/>
              </a:rPr>
              <a:t>Hoja de laboratorio en el celular</a:t>
            </a:r>
            <a:endParaRPr lang="en-US" sz="1600" dirty="0"/>
          </a:p>
        </p:txBody>
      </p:sp>
      <p:sp>
        <p:nvSpPr>
          <p:cNvPr id="22" name="Text 19"/>
          <p:cNvSpPr txBox="1"/>
          <p:nvPr/>
        </p:nvSpPr>
        <p:spPr>
          <a:xfrm>
            <a:off x="8503920" y="4572000"/>
            <a:ext cx="3200400" cy="548640"/>
          </a:xfrm>
          <a:prstGeom prst="rect">
            <a:avLst/>
          </a:prstGeom>
          <a:noFill/>
          <a:ln/>
        </p:spPr>
        <p:txBody>
          <a:bodyPr wrap="square" lIns="0" tIns="0" rIns="0" bIns="0" rtlCol="0" anchor="t"/>
          <a:lstStyle/>
          <a:p>
            <a:pPr algn="ctr" indent="0" marL="0">
              <a:buNone/>
            </a:pPr>
            <a:r>
              <a:rPr lang="en-US" sz="1300" dirty="0">
                <a:solidFill>
                  <a:srgbClr val="5A6878"/>
                </a:solidFill>
                <a:latin typeface="Calibri" pitchFamily="34" charset="0"/>
                <a:ea typeface="Calibri" pitchFamily="34" charset="-122"/>
                <a:cs typeface="Calibri" pitchFamily="34" charset="-120"/>
              </a:rPr>
              <a:t>logilab-sena.netlify.app › S2 Laboratorio de manutención</a:t>
            </a:r>
            <a:endParaRPr lang="en-US" sz="1300" dirty="0"/>
          </a:p>
        </p:txBody>
      </p:sp>
      <p:sp>
        <p:nvSpPr>
          <p:cNvPr id="23" name="Text 20"/>
          <p:cNvSpPr txBox="1"/>
          <p:nvPr/>
        </p:nvSpPr>
        <p:spPr>
          <a:xfrm>
            <a:off x="8503920" y="5166360"/>
            <a:ext cx="3200400" cy="548640"/>
          </a:xfrm>
          <a:prstGeom prst="rect">
            <a:avLst/>
          </a:prstGeom>
          <a:noFill/>
          <a:ln/>
        </p:spPr>
        <p:txBody>
          <a:bodyPr wrap="square" lIns="0" tIns="0" rIns="0" bIns="0" rtlCol="0" anchor="t"/>
          <a:lstStyle/>
          <a:p>
            <a:pPr algn="ctr" indent="0" marL="0">
              <a:buNone/>
            </a:pPr>
            <a:r>
              <a:rPr lang="en-US" sz="1300" i="1" dirty="0">
                <a:solidFill>
                  <a:srgbClr val="5A6878"/>
                </a:solidFill>
                <a:latin typeface="Calibri" pitchFamily="34" charset="0"/>
                <a:ea typeface="Calibri" pitchFamily="34" charset="-122"/>
                <a:cs typeface="Calibri" pitchFamily="34" charset="-120"/>
              </a:rPr>
              <a:t>Sin señal: hoja impresa o envío por WhatsApp desde la misma página.</a:t>
            </a:r>
            <a:endParaRPr lang="en-US" sz="1300" dirty="0"/>
          </a:p>
        </p:txBody>
      </p:sp>
      <p:sp>
        <p:nvSpPr>
          <p:cNvPr id="25" name="Slide Number Placeholder 0"/>
          <p:cNvSpPr>
            <a:spLocks noGrp="1"/>
          </p:cNvSpPr>
          <p:nvPr>
            <p:ph type="sldNum" sz="quarter" idx="4294967295"/>
          </p:nvPr>
        </p:nvSpPr>
        <p:spPr>
          <a:xfrm>
            <a:off x="1129284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8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548640"/>
            <a:ext cx="7315200" cy="365760"/>
          </a:xfrm>
          <a:prstGeom prst="rect">
            <a:avLst/>
          </a:prstGeom>
          <a:noFill/>
          <a:ln/>
        </p:spPr>
        <p:txBody>
          <a:bodyPr wrap="square" lIns="0" tIns="0" rIns="0" bIns="0" rtlCol="0" anchor="t"/>
          <a:lstStyle/>
          <a:p>
            <a:pPr indent="0" marL="0">
              <a:buNone/>
            </a:pPr>
            <a:r>
              <a:rPr lang="en-US" sz="1400" b="1" spc="200" kern="0" dirty="0">
                <a:solidFill>
                  <a:srgbClr val="D99A0B"/>
                </a:solidFill>
                <a:latin typeface="Calibri" pitchFamily="34" charset="0"/>
                <a:ea typeface="Calibri" pitchFamily="34" charset="-122"/>
                <a:cs typeface="Calibri" pitchFamily="34" charset="-120"/>
              </a:rPr>
              <a:t>TICKET DE SALIDA · INDIVIDUAL</a:t>
            </a:r>
            <a:endParaRPr lang="en-US" sz="1400" dirty="0"/>
          </a:p>
        </p:txBody>
      </p:sp>
      <p:sp>
        <p:nvSpPr>
          <p:cNvPr id="3" name="Shape 1"/>
          <p:cNvSpPr/>
          <p:nvPr/>
        </p:nvSpPr>
        <p:spPr>
          <a:xfrm>
            <a:off x="548640" y="1188720"/>
            <a:ext cx="502920" cy="502920"/>
          </a:xfrm>
          <a:prstGeom prst="ellipse">
            <a:avLst/>
          </a:prstGeom>
          <a:solidFill>
            <a:srgbClr val="0B2545"/>
          </a:solidFill>
          <a:ln w="25400">
            <a:solidFill>
              <a:srgbClr val="D99A0B"/>
            </a:solidFill>
            <a:prstDash val="solid"/>
          </a:ln>
        </p:spPr>
      </p:sp>
      <p:sp>
        <p:nvSpPr>
          <p:cNvPr id="4" name="Text 2"/>
          <p:cNvSpPr txBox="1"/>
          <p:nvPr/>
        </p:nvSpPr>
        <p:spPr>
          <a:xfrm>
            <a:off x="548640" y="1188720"/>
            <a:ext cx="502920" cy="502920"/>
          </a:xfrm>
          <a:prstGeom prst="rect">
            <a:avLst/>
          </a:prstGeom>
          <a:noFill/>
          <a:ln/>
        </p:spPr>
        <p:txBody>
          <a:bodyPr wrap="square" lIns="0" tIns="0" rIns="0" bIns="0" rtlCol="0" anchor="ctr"/>
          <a:lstStyle/>
          <a:p>
            <a:pPr algn="ctr" indent="0" marL="0">
              <a:buNone/>
            </a:pPr>
            <a:r>
              <a:rPr lang="en-US" sz="1400" b="1" dirty="0">
                <a:solidFill>
                  <a:srgbClr val="D99A0B"/>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234440" y="1097280"/>
            <a:ext cx="10332720" cy="73152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¿Qué diferencia una transpaleta de un apilador? Da un ejemplo de cuándo usarías cada uno.</a:t>
            </a:r>
            <a:endParaRPr lang="en-US" sz="2000" dirty="0"/>
          </a:p>
        </p:txBody>
      </p:sp>
      <p:sp>
        <p:nvSpPr>
          <p:cNvPr id="6" name="Shape 4"/>
          <p:cNvSpPr/>
          <p:nvPr/>
        </p:nvSpPr>
        <p:spPr>
          <a:xfrm>
            <a:off x="548640" y="2103120"/>
            <a:ext cx="502920" cy="502920"/>
          </a:xfrm>
          <a:prstGeom prst="ellipse">
            <a:avLst/>
          </a:prstGeom>
          <a:solidFill>
            <a:srgbClr val="0B2545"/>
          </a:solidFill>
          <a:ln w="25400">
            <a:solidFill>
              <a:srgbClr val="D99A0B"/>
            </a:solidFill>
            <a:prstDash val="solid"/>
          </a:ln>
        </p:spPr>
      </p:sp>
      <p:sp>
        <p:nvSpPr>
          <p:cNvPr id="7" name="Text 5"/>
          <p:cNvSpPr txBox="1"/>
          <p:nvPr/>
        </p:nvSpPr>
        <p:spPr>
          <a:xfrm>
            <a:off x="548640" y="2103120"/>
            <a:ext cx="502920" cy="502920"/>
          </a:xfrm>
          <a:prstGeom prst="rect">
            <a:avLst/>
          </a:prstGeom>
          <a:noFill/>
          <a:ln/>
        </p:spPr>
        <p:txBody>
          <a:bodyPr wrap="square" lIns="0" tIns="0" rIns="0" bIns="0" rtlCol="0" anchor="ctr"/>
          <a:lstStyle/>
          <a:p>
            <a:pPr algn="ctr" indent="0" marL="0">
              <a:buNone/>
            </a:pPr>
            <a:r>
              <a:rPr lang="en-US" sz="1400" b="1" dirty="0">
                <a:solidFill>
                  <a:srgbClr val="D99A0B"/>
                </a:solidFill>
                <a:latin typeface="Calibri" pitchFamily="34" charset="0"/>
                <a:ea typeface="Calibri" pitchFamily="34" charset="-122"/>
                <a:cs typeface="Calibri" pitchFamily="34" charset="-120"/>
              </a:rPr>
              <a:t>2</a:t>
            </a:r>
            <a:endParaRPr lang="en-US" sz="1400" dirty="0"/>
          </a:p>
        </p:txBody>
      </p:sp>
      <p:sp>
        <p:nvSpPr>
          <p:cNvPr id="8" name="Text 6"/>
          <p:cNvSpPr txBox="1"/>
          <p:nvPr/>
        </p:nvSpPr>
        <p:spPr>
          <a:xfrm>
            <a:off x="1234440" y="2011680"/>
            <a:ext cx="10332720" cy="73152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¿Qué tres datos trae la placa de capacidad y por qué importa el centro de carga?</a:t>
            </a:r>
            <a:endParaRPr lang="en-US" sz="2000" dirty="0"/>
          </a:p>
        </p:txBody>
      </p:sp>
      <p:sp>
        <p:nvSpPr>
          <p:cNvPr id="9" name="Shape 7"/>
          <p:cNvSpPr/>
          <p:nvPr/>
        </p:nvSpPr>
        <p:spPr>
          <a:xfrm>
            <a:off x="548640" y="3017520"/>
            <a:ext cx="502920" cy="502920"/>
          </a:xfrm>
          <a:prstGeom prst="ellipse">
            <a:avLst/>
          </a:prstGeom>
          <a:solidFill>
            <a:srgbClr val="0B2545"/>
          </a:solidFill>
          <a:ln w="25400">
            <a:solidFill>
              <a:srgbClr val="D99A0B"/>
            </a:solidFill>
            <a:prstDash val="solid"/>
          </a:ln>
        </p:spPr>
      </p:sp>
      <p:sp>
        <p:nvSpPr>
          <p:cNvPr id="10" name="Text 8"/>
          <p:cNvSpPr txBox="1"/>
          <p:nvPr/>
        </p:nvSpPr>
        <p:spPr>
          <a:xfrm>
            <a:off x="548640" y="3017520"/>
            <a:ext cx="502920" cy="502920"/>
          </a:xfrm>
          <a:prstGeom prst="rect">
            <a:avLst/>
          </a:prstGeom>
          <a:noFill/>
          <a:ln/>
        </p:spPr>
        <p:txBody>
          <a:bodyPr wrap="square" lIns="0" tIns="0" rIns="0" bIns="0" rtlCol="0" anchor="ctr"/>
          <a:lstStyle/>
          <a:p>
            <a:pPr algn="ctr" indent="0" marL="0">
              <a:buNone/>
            </a:pPr>
            <a:r>
              <a:rPr lang="en-US" sz="1400" b="1" dirty="0">
                <a:solidFill>
                  <a:srgbClr val="D99A0B"/>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234440" y="2926080"/>
            <a:ext cx="10332720" cy="73152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¿Qué riesgo observaste hoy en el laboratorio y cómo lo controlarías?</a:t>
            </a:r>
            <a:endParaRPr lang="en-US" sz="2000" dirty="0"/>
          </a:p>
        </p:txBody>
      </p:sp>
      <p:sp>
        <p:nvSpPr>
          <p:cNvPr id="12" name="Shape 10"/>
          <p:cNvSpPr/>
          <p:nvPr/>
        </p:nvSpPr>
        <p:spPr>
          <a:xfrm>
            <a:off x="548640" y="4023360"/>
            <a:ext cx="11064240" cy="2011680"/>
          </a:xfrm>
          <a:prstGeom prst="roundRect">
            <a:avLst>
              <a:gd name="adj" fmla="val 3636"/>
            </a:avLst>
          </a:prstGeom>
          <a:solidFill>
            <a:srgbClr val="13315C"/>
          </a:solidFill>
          <a:ln w="19050">
            <a:solidFill>
              <a:srgbClr val="D99A0B"/>
            </a:solidFill>
            <a:prstDash val="solid"/>
          </a:ln>
        </p:spPr>
      </p:sp>
      <p:sp>
        <p:nvSpPr>
          <p:cNvPr id="13" name="Text 11"/>
          <p:cNvSpPr txBox="1"/>
          <p:nvPr/>
        </p:nvSpPr>
        <p:spPr>
          <a:xfrm>
            <a:off x="777240" y="4160520"/>
            <a:ext cx="7315200" cy="365760"/>
          </a:xfrm>
          <a:prstGeom prst="rect">
            <a:avLst/>
          </a:prstGeom>
          <a:noFill/>
          <a:ln/>
        </p:spPr>
        <p:txBody>
          <a:bodyPr wrap="square" lIns="0" tIns="0" rIns="0" bIns="0" rtlCol="0" anchor="t"/>
          <a:lstStyle/>
          <a:p>
            <a:pPr indent="0" marL="0">
              <a:buNone/>
            </a:pPr>
            <a:r>
              <a:rPr lang="en-US" sz="1400" b="1" spc="200" kern="0" dirty="0">
                <a:solidFill>
                  <a:srgbClr val="D99A0B"/>
                </a:solidFill>
                <a:latin typeface="Calibri" pitchFamily="34" charset="0"/>
                <a:ea typeface="Calibri" pitchFamily="34" charset="-122"/>
                <a:cs typeface="Calibri" pitchFamily="34" charset="-120"/>
              </a:rPr>
              <a:t>TAREA PARA LA S4 · ENTREGA E1</a:t>
            </a:r>
            <a:endParaRPr lang="en-US" sz="1400" dirty="0"/>
          </a:p>
        </p:txBody>
      </p:sp>
      <p:sp>
        <p:nvSpPr>
          <p:cNvPr id="14" name="Text 12"/>
          <p:cNvSpPr txBox="1"/>
          <p:nvPr/>
        </p:nvSpPr>
        <p:spPr>
          <a:xfrm>
            <a:off x="777240" y="4572000"/>
            <a:ext cx="10607040" cy="13716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Por equipo: pasen a limpio la matriz de selección de su producto, con la verificación de capacidad de cada equipo y el cálculo del peso de la unidad de carga.</a:t>
            </a:r>
            <a:endParaRPr lang="en-US" sz="1700" dirty="0"/>
          </a:p>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Individual: busquen la ficha técnica de un montacargas contrabalanceado y copien su placa (capacidad, centro de carga, altura). La usamos en la S3.</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S2 · Equipos de manutención: transpaletas, apiladores y grúa pórtico</dc:title>
  <dc:subject>Unitarización y Embalaje de la Carga 732235 · Corte 2</dc:subject>
  <dc:creator>Carlos Barrios</dc:creator>
  <cp:lastModifiedBy>Carlos Barrios</cp:lastModifiedBy>
  <cp:revision>1</cp:revision>
  <dcterms:created xsi:type="dcterms:W3CDTF">2026-10-05T20:43:47Z</dcterms:created>
  <dcterms:modified xsi:type="dcterms:W3CDTF">2026-10-05T20:43:47Z</dcterms:modified>
</cp:coreProperties>
</file>