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 GUAJIRA · ADMINISTRACIÓN MARÍTIMA Y PORTUARIA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Pallet Maker: de la caja a la paleta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cubicaje: configurar, calcular, leer el informe y diagnosticar errores antes de armar una sola paleta.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4754880" cy="1051560"/>
          </a:xfrm>
          <a:prstGeom prst="rect">
            <a:avLst/>
          </a:prstGeom>
          <a:solidFill>
            <a:srgbClr val="13315C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1605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S3 · Corte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(732235)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software en sala de cómputo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0" y="182880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182880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82880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33172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233172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233172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283464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283464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283464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33756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3337560"/>
            <a:ext cx="822960" cy="502920"/>
          </a:xfrm>
          <a:prstGeom prst="rect">
            <a:avLst/>
          </a:prstGeom>
          <a:solidFill>
            <a:srgbClr val="D99A0B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3337560"/>
            <a:ext cx="822960" cy="502920"/>
          </a:xfrm>
          <a:prstGeom prst="rect">
            <a:avLst/>
          </a:prstGeom>
          <a:solidFill>
            <a:srgbClr val="C98E1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3858768"/>
            <a:ext cx="2560320" cy="184343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4149108"/>
            <a:ext cx="2560320" cy="184343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4439449"/>
            <a:ext cx="2560320" cy="184343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14816" y="3973982"/>
            <a:ext cx="307238" cy="460858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8944" y="3973982"/>
            <a:ext cx="307238" cy="460858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63072" y="3973982"/>
            <a:ext cx="307238" cy="460858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APERTURA · 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exportador de café en Santa Marta arma sus paletas a mano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13315C"/>
          </a:solidFill>
          <a:ln w="12700">
            <a:solidFill>
              <a:srgbClr val="2E4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× 300 × 250 mm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café tostado, 12 kg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13315C"/>
          </a:solidFill>
          <a:ln w="12700">
            <a:solidFill>
              <a:srgbClr val="2E4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× 1000 mm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ISO (CHEP)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13315C"/>
          </a:solidFill>
          <a:ln w="12700">
            <a:solidFill>
              <a:srgbClr val="2E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cajas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capa, todas giradas igual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16459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 Hamburgo paga el flete por paleta.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caja que no cabe es flete pagado por aire.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832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parejas, 3 minutos: </a:t>
            </a:r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dibujen la base de la paleta. ¿Se puede meter una caja más por capa sin que nada sobresalga del borde? Si sí, ¿cuántas cajas más lleva la paleta completa de 5 capas?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1200 × 1000 = 1.200.000 mm² y cada caja ocupa 400 × 300 = 120.000 mm².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 sesión podrán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2618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</a:t>
            </a:r>
            <a:pPr indent="0" marL="0">
              <a:buNone/>
            </a:pPr>
            <a:r>
              <a:rPr lang="en-US" sz="16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 en mm y kg y escoger el modo de cálculo correcto: caja a paleta, empaque primario a paleta o llenar caja estándar.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22199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</a:t>
            </a:r>
            <a:pPr indent="0" marL="0">
              <a:buNone/>
            </a:pPr>
            <a:r>
              <a:rPr lang="en-US" sz="16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detallado: cajas por capa, capas, peso, altura total y eficiencia de la base.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24612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18211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pPr indent="0" marL="0">
              <a:buNone/>
            </a:pPr>
            <a:r>
              <a:rPr lang="en-US" sz="16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limitante de una paleta (área, altura o peso) y comprobarlo cambiando una restricción.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20624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14223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</a:t>
            </a:r>
            <a:pPr indent="0" marL="0">
              <a:buNone/>
            </a:pPr>
            <a:r>
              <a:rPr lang="en-US" sz="16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«Una caja válida no pudo ser creada» y corregir la configuración.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16636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510235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</a:t>
            </a:r>
            <a:pPr indent="0" marL="0">
              <a:buNone/>
            </a:pPr>
            <a:r>
              <a:rPr lang="en-US" sz="16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del software con el patrón manual de la S2 para el producto de su equipo.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un software de cubicaje?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 prueba cientos de patrones en segundos y respeta todas las restricciones al mismo tiempo.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20440" cy="35661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3520440" cy="73152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patrones en columna, trabados y mixtos, con la caja girada en varias posiciones. A mano se prueban dos o tres.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tarda una tarde con lápiz, en 2 segundos.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520440" cy="35661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554480"/>
            <a:ext cx="3520440" cy="73152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a la vez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máximo, altura máxima, voladizo, posiciones permitidas de la caja y tamaño del camión o contenedor.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paletas que el montacargas o el cliente rechazan.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520440" cy="35661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554480"/>
            <a:ext cx="3520440" cy="73152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para todos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320" y="2286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por capa, cantidades, pesos, alturas y eficiencia. Sirve al cliente, al transportista y a la bodega.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es la orden de trabajo del operario.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otros programas con la misma lógica (Cape Pack, TOPS Pro, Pier2Peer 3D para contenedores). Lo que aprendan hoy les sirve en todos.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modos de cálculo: Archivo › Nueva hoja de datos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Escoger el modo es la primera decisión. Cada modo pide datos distintos y responde una pregunta distinta.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651760"/>
                <a:gridCol w="256032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Ustedes dan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QPM responde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Úsenlo cuando…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a paleta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Medidas y peso de la caja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Cajas por capa, capas, peso y altura de la paleta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caja ya existe y hay que paletizarla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Ej. 1, 2 y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 primario a paleta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Medidas del EP y cuántos van por caja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caja óptima y la paleta con esa caja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diseñar o cambiar la caja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Ej.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Llenar cajas estándar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EP y una caja que ya tiene la bodega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Cuántos EP caben en esa caja y la paleta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bodega trabaja con cajas fijas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Ej.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= empaque primario: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que va dentro de la caja (bolsa, frasco, blíster). Si el EP es muy pequeño, armen un «pack» de varias unidades para que QPM calcule más rápido.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datos de entrada, bloque por bloque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solidFill>
            <a:srgbClr val="F7F8FA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120640" cy="320040"/>
          </a:xfrm>
          <a:prstGeom prst="rect">
            <a:avLst/>
          </a:prstGeom>
          <a:solidFill>
            <a:srgbClr val="DDE3EA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Entrada - Sin Título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4754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 de Empaque Primario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96596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96596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6596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911096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911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171907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 de Empaque Primario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Forma, medidas, peso y posiciones verticales permitidas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606040"/>
            <a:ext cx="4754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06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las cajas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83464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83464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3464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779776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258775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las cajas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por caja, construcción, corrugado y restricciones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Std.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08960" y="370332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70332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70332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3648456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345643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Std.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caja nueva o llenar una caja estándar (Tipo)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4343400"/>
            <a:ext cx="4754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43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paleta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08960" y="457200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57200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57200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4517136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35040" y="432511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paleta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CHEP 1200x1000, EUR 1200x800 o una creada por ustedes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1520" y="5212080"/>
            <a:ext cx="4754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la carga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08960" y="544068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86200" y="544068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5440680"/>
            <a:ext cx="640080" cy="274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5385816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035040" y="519379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la carga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mín./máx. y peso máximo de la carga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35040" y="5989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terminar: Herramientas › Recalcular · Ventana › Informe detallado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la caja: el filtro que más errores causa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QPM diseña una caja, solo acepta las que cumplen TODAS estas condiciones a la vez.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configura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externas: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y máximo de largo, ancho y alto (por defecto 50 a 600 mm).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de forma: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Largo/Ancho 1–3 · Largo/Alto 0,5–3 · Alto/Ancho 0,5–3. Evitan cajas «tabla» o «chimenea».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Corrugado: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grosor se suma a la medida interna. Corrugado B: 6,35 × 6,35 × 12,7 mm.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 de caja: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Herramientas › Opciones › Restricciones de las cajas.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03520" cy="4206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 mano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bolsas de café de 180 × 110 × 60 mm en 2 × 2 × 3: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Interna: 360 × 220 × 180 mm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Externa: 366 × 226 × 193 mm (+6,35 / +6,35 / +12,7)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L/A = 366 ÷ 226 = 1,62  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L/H = 366 ÷ 193 = 1,90  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H/A = 193 ÷ 226 = 0,85  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12 en una columna (186 × 116 × 733 mm): el alto pasa de 600 mm  ✕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limitante: ¿qué detiene la paleta?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hay una restricción que se agota primero. Encontrarla es saber dónde se puede mejorar.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2044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la base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cajas ya no caben en la superficie de la paleta sin voladizo.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mejora con otro patrón (trabado o mixto) o con otra paleta.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2044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78308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máxima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2628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cabe otra capa: 1345 mm de carga + 145 mm de paleta ≈ 1,5 m.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1: 1345 ÷ 250 = 5,38 → 5 capas.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520440" cy="31089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78308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7532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llega a 1500 kg antes de llenar la altura.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2: por altura 13 capas de baldosas, pero 65 × 30 kg = 1950 kg: no pasa.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oro: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aflojen la restricción que creen que limita y recalculen. Si el total sube, era esa. Si no cambia, el límite está en otra parte.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resuelto: la caja de café del reto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mano, en columnas: 9 por capa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730752" cy="3108960"/>
          </a:xfrm>
          <a:prstGeom prst="rect">
            <a:avLst/>
          </a:prstGeom>
          <a:solidFill>
            <a:srgbClr val="F2E6CC"/>
          </a:solidFill>
          <a:ln w="19050">
            <a:solidFill>
              <a:srgbClr val="9C7A2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1737360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1737360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70048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3664" y="2670048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2670048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02736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83664" y="3602736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3602736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una franja de 1200 × 100 mm: 90 % del área.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QPM, patrón mixto: 10 por capa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737360"/>
            <a:ext cx="3730752" cy="3108960"/>
          </a:xfrm>
          <a:prstGeom prst="rect">
            <a:avLst/>
          </a:prstGeom>
          <a:solidFill>
            <a:srgbClr val="F2E6CC"/>
          </a:solidFill>
          <a:ln w="19050">
            <a:solidFill>
              <a:srgbClr val="9C7A2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663440" y="1737360"/>
            <a:ext cx="932688" cy="1243584"/>
          </a:xfrm>
          <a:prstGeom prst="rect">
            <a:avLst/>
          </a:prstGeom>
          <a:solidFill>
            <a:srgbClr val="2E5A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96128" y="1737360"/>
            <a:ext cx="932688" cy="1243584"/>
          </a:xfrm>
          <a:prstGeom prst="rect">
            <a:avLst/>
          </a:prstGeom>
          <a:solidFill>
            <a:srgbClr val="2E5A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1737360"/>
            <a:ext cx="932688" cy="1243584"/>
          </a:xfrm>
          <a:prstGeom prst="rect">
            <a:avLst/>
          </a:prstGeom>
          <a:solidFill>
            <a:srgbClr val="2E5A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1737360"/>
            <a:ext cx="932688" cy="1243584"/>
          </a:xfrm>
          <a:prstGeom prst="rect">
            <a:avLst/>
          </a:prstGeom>
          <a:solidFill>
            <a:srgbClr val="2E5A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980944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980944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2980944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913632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07024" y="3913632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3913632"/>
            <a:ext cx="1243584" cy="932688"/>
          </a:xfrm>
          <a:prstGeom prst="rect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937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girada y dos filas normales: 100 % del área.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86800" y="1234440"/>
            <a:ext cx="2971800" cy="4434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1325880"/>
            <a:ext cx="2651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QPM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cajas × 5 capas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50 cajas (antes 45)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Carga: 50 × 12 = 600 kg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paleta: 630 kg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Altura: 5 × 250 + 145 = 1395 mm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limitante: altura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+11 % de cajas por paleta con la misma caja.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informe detallado: qué copiar a la hoja del taller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› Informe detallado. Todo resultado se reporta con su unidad.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8424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por capa y capas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el patrón. Comparen con su cálculo manual.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8424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67335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(o EP) por paleta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 usa el área comercial y la bodega.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31012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99923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bruto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+ paleta. Compárenlo con el montacargas y el límite del cliente.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92608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31012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99923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total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+ paleta. Define si cabe en el rack, el camión o el contenedor.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63600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32511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la 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área de la paleta ocupada por las cajas.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251960"/>
            <a:ext cx="5440680" cy="11430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636008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432511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de la caja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modo diseño: la caja externa propuesta y cómo van los EP adentro.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lista de soluciones (arriba a la derecha) QPM muestra varias alternativas: escojan la de más unidades que cumpla todo.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 caja válida no pudo ser creada»: cómo diagnosticarlo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 no encontró ninguna caja que cumpla todas las restricciones. No es un fallo del programa: es la configuración.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19202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9144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pocos EP por caja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empaques de 1,6 mm de grosor dan una caja de unos 22 mm de alto: no llega al mínimo de 50 mm y rompe las relaciones.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Suban EP/Caja (≈ 30 o más) o revisen el dato del EP.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19202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9144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estándar se sale de un límite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57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NB de 605 mm de largo con Longitud externa máxima en 600 mm.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Suban el máximo a 610 mm o más.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440680" cy="19202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57600"/>
            <a:ext cx="9144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no coincide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Tipo NP pero la caja de la tabla es NB. QPM no encuentra cajas de ese tipo.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Escojan el mismo Tipo de la tabla de cajas estándar.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5440680" cy="19202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657600"/>
            <a:ext cx="9144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de caja o de carga no alcanza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 de caja muy bajo para el EP.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Revisen Herramientas › Opciones.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cambien una cosa a la vez y recalculen. Así saben cuál era la causa.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por equipos · 40 minutos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logilab-sena.netlify.app/logistica/s3-taller-qpm/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737360" cy="2286000"/>
          </a:xfrm>
          <a:prstGeom prst="rect">
            <a:avLst/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76472"/>
            <a:ext cx="28956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a paleta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600200"/>
            <a:ext cx="1737360" cy="2286000"/>
          </a:xfrm>
          <a:prstGeom prst="rect">
            <a:avLst/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776472"/>
            <a:ext cx="57912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limita la paleta?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600200"/>
            <a:ext cx="1737360" cy="2286000"/>
          </a:xfrm>
          <a:prstGeom prst="rect">
            <a:avLst/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776472"/>
            <a:ext cx="86868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3891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 diseña la caja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1737360" cy="2286000"/>
          </a:xfrm>
          <a:prstGeom prst="rect">
            <a:avLst/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776472"/>
            <a:ext cx="115824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6364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caja estándar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1600200"/>
            <a:ext cx="1737360" cy="2286000"/>
          </a:xfrm>
          <a:prstGeom prst="rect">
            <a:avLst/>
          </a:prstGeom>
          <a:solidFill>
            <a:srgbClr val="13315C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776472"/>
            <a:ext cx="144780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13816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del error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3816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921240" y="1600200"/>
            <a:ext cx="1737360" cy="2286000"/>
          </a:xfrm>
          <a:prstGeom prst="rect">
            <a:avLst/>
          </a:prstGeom>
          <a:solidFill>
            <a:srgbClr val="13315C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3776472"/>
            <a:ext cx="1737360" cy="109728"/>
          </a:xfrm>
          <a:prstGeom prst="rect">
            <a:avLst/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1737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001268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producto en QPM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1268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clase: 1 a 4 · Trabajo independiente: 5 y 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3520440" cy="11887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carga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datos en voz alta y verifica lo que se digita en QPM.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97680" y="4709160"/>
            <a:ext cx="3520440" cy="11887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Calculista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QPM y diligencia la hoja del equipo en LogiLab.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46720" y="4709160"/>
            <a:ext cx="3520440" cy="11887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B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Hacen el cálculo manual y comprueban las relaciones y los pesos.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TICKET DE SALIDA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solos, en la pestaña Ticket de salida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D99A0B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diferencian los modos «Caja a paleta», «Empaque primario a paleta» y «Llenar cajas standard»?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D99A0B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ejercicio de su producto, ¿cuál fue el factor limitante y en qué dato del informe lo vieron?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D99A0B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023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QPM muestra «Una caja válida no pudo ser creada», ¿qué tres cosas revisarían primero?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Unitarización y Embalaje de la Carga · 732235 · Corte 2 · S3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89520" y="644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Carlos Barrios · Docente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independiente · antes de la próxima sesión (≈ 3 h)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el taller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5 y 6 en LogiLab. El Calculista reenvía la hoja completa: el envío nuevo reemplaza al anterior.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su producto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el informe detallado de QPM del ejercicio 6 (PDF o captura). Es insumo de la Entrega E1.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4747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manual vs. software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media página: ¿en qué casos el cálculo manual basta y en cuáles conviene el software?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709160"/>
            <a:ext cx="384048" cy="384048"/>
          </a:xfrm>
          <a:prstGeom prst="ellipse">
            <a:avLst/>
          </a:prstGeom>
          <a:solidFill>
            <a:srgbClr val="0B2545"/>
          </a:solidFill>
          <a:ln w="19050">
            <a:solidFill>
              <a:srgbClr val="D99A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57200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Prepararse para contenedores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sesión pasamos de la paleta al contenedor de 20' y 40'. Repasen medidas internas de un contenedor dry.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Quick Pallet Maker, manual de usuario (menú Ayuda del programa) · Guía curricular GD-G-13, ítem 2.2.1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S3 Quick Pallet Maker</dc:title>
  <dc:subject>PptxGenJS Presentation</dc:subject>
  <dc:creator>PptxGenJS</dc:creator>
  <cp:lastModifiedBy>PptxGenJS</cp:lastModifiedBy>
  <cp:revision>1</cp:revision>
  <dcterms:created xsi:type="dcterms:W3CDTF">2026-10-09T16:04:19Z</dcterms:created>
  <dcterms:modified xsi:type="dcterms:W3CDTF">2026-10-09T16:04:19Z</dcterms:modified>
</cp:coreProperties>
</file>